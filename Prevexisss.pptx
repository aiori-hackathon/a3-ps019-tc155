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 Id="rId9"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34.png"/><Relationship Id="rId13" Type="http://schemas.openxmlformats.org/officeDocument/2006/relationships/image" Target="../media/image39.png"/><Relationship Id="rId3" Type="http://schemas.openxmlformats.org/officeDocument/2006/relationships/image" Target="../media/image29.png"/><Relationship Id="rId7" Type="http://schemas.openxmlformats.org/officeDocument/2006/relationships/image" Target="../media/image33.png"/><Relationship Id="rId12" Type="http://schemas.openxmlformats.org/officeDocument/2006/relationships/image" Target="../media/image38.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 Id="rId14" Type="http://schemas.openxmlformats.org/officeDocument/2006/relationships/image" Target="../media/image40.png"/></Relationships>
</file>

<file path=ppt/slides/_rels/slide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53.png"/><Relationship Id="rId4" Type="http://schemas.openxmlformats.org/officeDocument/2006/relationships/image" Target="../media/image52.png"/></Relationships>
</file>

<file path=ppt/slides/_rels/slide10.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9.png"/><Relationship Id="rId11" Type="http://schemas.openxmlformats.org/officeDocument/2006/relationships/image" Target="../media/image64.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11.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7.xml"/><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57200" y="5338762"/>
            <a:ext cx="11277600" cy="1062037"/>
          </a:xfrm>
          <a:prstGeom prst="rect">
            <a:avLst/>
          </a:prstGeom>
        </p:spPr>
      </p:pic>
      <p:pic>
        <p:nvPicPr>
          <p:cNvPr id="3" name="Picture 2" descr="image.png"/>
          <p:cNvPicPr>
            <a:picLocks noChangeAspect="1"/>
          </p:cNvPicPr>
          <p:nvPr/>
        </p:nvPicPr>
        <p:blipFill>
          <a:blip r:embed="rId3"/>
          <a:stretch>
            <a:fillRect/>
          </a:stretch>
        </p:blipFill>
        <p:spPr>
          <a:xfrm>
            <a:off x="9810452" y="457200"/>
            <a:ext cx="1924347" cy="247650"/>
          </a:xfrm>
          <a:prstGeom prst="rect">
            <a:avLst/>
          </a:prstGeom>
        </p:spPr>
      </p:pic>
      <p:pic>
        <p:nvPicPr>
          <p:cNvPr id="4" name="Picture 3" descr="image.png"/>
          <p:cNvPicPr>
            <a:picLocks noChangeAspect="1"/>
          </p:cNvPicPr>
          <p:nvPr/>
        </p:nvPicPr>
        <p:blipFill>
          <a:blip r:embed="rId4"/>
          <a:stretch>
            <a:fillRect/>
          </a:stretch>
        </p:blipFill>
        <p:spPr>
          <a:xfrm>
            <a:off x="457200" y="5576887"/>
            <a:ext cx="2705100" cy="823912"/>
          </a:xfrm>
          <a:prstGeom prst="rect">
            <a:avLst/>
          </a:prstGeom>
        </p:spPr>
      </p:pic>
      <p:pic>
        <p:nvPicPr>
          <p:cNvPr id="5" name="Picture 4" descr="image.png"/>
          <p:cNvPicPr>
            <a:picLocks noChangeAspect="1"/>
          </p:cNvPicPr>
          <p:nvPr/>
        </p:nvPicPr>
        <p:blipFill>
          <a:blip r:embed="rId5"/>
          <a:stretch>
            <a:fillRect/>
          </a:stretch>
        </p:blipFill>
        <p:spPr>
          <a:xfrm>
            <a:off x="3314700" y="5576887"/>
            <a:ext cx="2705100" cy="823912"/>
          </a:xfrm>
          <a:prstGeom prst="rect">
            <a:avLst/>
          </a:prstGeom>
        </p:spPr>
      </p:pic>
      <p:pic>
        <p:nvPicPr>
          <p:cNvPr id="6" name="Picture 5" descr="image.png"/>
          <p:cNvPicPr>
            <a:picLocks noChangeAspect="1"/>
          </p:cNvPicPr>
          <p:nvPr/>
        </p:nvPicPr>
        <p:blipFill>
          <a:blip r:embed="rId4"/>
          <a:stretch>
            <a:fillRect/>
          </a:stretch>
        </p:blipFill>
        <p:spPr>
          <a:xfrm>
            <a:off x="6172200" y="5576887"/>
            <a:ext cx="2705100" cy="823912"/>
          </a:xfrm>
          <a:prstGeom prst="rect">
            <a:avLst/>
          </a:prstGeom>
        </p:spPr>
      </p:pic>
      <p:pic>
        <p:nvPicPr>
          <p:cNvPr id="7" name="Picture 6" descr="image.png"/>
          <p:cNvPicPr>
            <a:picLocks noChangeAspect="1"/>
          </p:cNvPicPr>
          <p:nvPr/>
        </p:nvPicPr>
        <p:blipFill>
          <a:blip r:embed="rId4"/>
          <a:stretch>
            <a:fillRect/>
          </a:stretch>
        </p:blipFill>
        <p:spPr>
          <a:xfrm>
            <a:off x="9029700" y="5576887"/>
            <a:ext cx="2705100" cy="823912"/>
          </a:xfrm>
          <a:prstGeom prst="rect">
            <a:avLst/>
          </a:prstGeom>
        </p:spPr>
      </p:pic>
      <p:sp>
        <p:nvSpPr>
          <p:cNvPr id="8" name="Rounded Rectangle 7"/>
          <p:cNvSpPr/>
          <p:nvPr/>
        </p:nvSpPr>
        <p:spPr>
          <a:xfrm>
            <a:off x="457200" y="457200"/>
            <a:ext cx="1487834" cy="247650"/>
          </a:xfrm>
          <a:prstGeom prst="roundRect">
            <a:avLst>
              <a:gd name="adj" fmla="val 1538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076450"/>
            <a:ext cx="9814560" cy="457200"/>
          </a:xfrm>
          <a:prstGeom prst="rect">
            <a:avLst/>
          </a:prstGeom>
          <a:noFill/>
        </p:spPr>
        <p:txBody>
          <a:bodyPr wrap="square" lIns="0" tIns="0" rIns="0" bIns="0" anchor="t">
            <a:spAutoFit/>
          </a:bodyPr>
          <a:lstStyle/>
          <a:p>
            <a:pPr algn="l">
              <a:lnSpc>
                <a:spcPts val="3600"/>
              </a:lnSpc>
            </a:pPr>
            <a:r>
              <a:rPr sz="3600" b="1" i="0" u="none" spc="-90">
                <a:solidFill>
                  <a:srgbClr val="1D4ED8"/>
                </a:solidFill>
                <a:latin typeface="Inter"/>
              </a:rPr>
              <a:t>A3-PS019-TC155</a:t>
            </a:r>
          </a:p>
        </p:txBody>
      </p:sp>
      <p:sp>
        <p:nvSpPr>
          <p:cNvPr id="10" name="TextBox 9"/>
          <p:cNvSpPr txBox="1"/>
          <p:nvPr/>
        </p:nvSpPr>
        <p:spPr>
          <a:xfrm>
            <a:off x="457200" y="2609850"/>
            <a:ext cx="9814560" cy="357187"/>
          </a:xfrm>
          <a:prstGeom prst="rect">
            <a:avLst/>
          </a:prstGeom>
          <a:noFill/>
        </p:spPr>
        <p:txBody>
          <a:bodyPr wrap="square" lIns="0" tIns="0" rIns="0" bIns="0" anchor="t">
            <a:spAutoFit/>
          </a:bodyPr>
          <a:lstStyle/>
          <a:p>
            <a:pPr algn="l">
              <a:lnSpc>
                <a:spcPts val="2812"/>
              </a:lnSpc>
            </a:pPr>
            <a:r>
              <a:rPr sz="2250" b="1" i="0" u="none">
                <a:solidFill>
                  <a:srgbClr val="0F172A"/>
                </a:solidFill>
                <a:latin typeface="Inter"/>
              </a:rPr>
              <a:t>Personal-Data Discovery and Privacy Evidence Inventory</a:t>
            </a:r>
          </a:p>
        </p:txBody>
      </p:sp>
      <p:sp>
        <p:nvSpPr>
          <p:cNvPr id="11" name="Rounded Rectangle 10"/>
          <p:cNvSpPr/>
          <p:nvPr/>
        </p:nvSpPr>
        <p:spPr>
          <a:xfrm>
            <a:off x="457200" y="3119437"/>
            <a:ext cx="609600" cy="38100"/>
          </a:xfrm>
          <a:prstGeom prst="round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3386137"/>
            <a:ext cx="7315200" cy="742950"/>
          </a:xfrm>
          <a:prstGeom prst="rect">
            <a:avLst/>
          </a:prstGeom>
          <a:noFill/>
        </p:spPr>
        <p:txBody>
          <a:bodyPr wrap="square" lIns="0" tIns="0" rIns="0" bIns="0" anchor="t">
            <a:spAutoFit/>
          </a:bodyPr>
          <a:lstStyle/>
          <a:p>
            <a:pPr algn="l">
              <a:lnSpc>
                <a:spcPts val="1950"/>
              </a:lnSpc>
            </a:pPr>
            <a:r>
              <a:rPr sz="1200" b="0" i="0" u="none">
                <a:solidFill>
                  <a:srgbClr val="475569"/>
                </a:solidFill>
                <a:latin typeface="Inter"/>
              </a:rPr>
              <a:t>A configurable scanner inspecting synthetic structured datasets (CSV, SQLite) to identify candidate personal-data fields, link them to declared business purposes and retention metadata, and output an audited technical evidence inventory for human review.</a:t>
            </a:r>
          </a:p>
        </p:txBody>
      </p:sp>
      <p:sp>
        <p:nvSpPr>
          <p:cNvPr id="13" name="Rounded Rectangle 12"/>
          <p:cNvSpPr/>
          <p:nvPr/>
        </p:nvSpPr>
        <p:spPr>
          <a:xfrm>
            <a:off x="457200" y="457200"/>
            <a:ext cx="1487834" cy="247650"/>
          </a:xfrm>
          <a:prstGeom prst="roundRect">
            <a:avLst>
              <a:gd name="adj" fmla="val 15384"/>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2450" y="495300"/>
            <a:ext cx="1491934" cy="17145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HACKATHON 3</a:t>
            </a:r>
          </a:p>
        </p:txBody>
      </p:sp>
      <p:sp>
        <p:nvSpPr>
          <p:cNvPr id="15" name="TextBox 14"/>
          <p:cNvSpPr txBox="1"/>
          <p:nvPr/>
        </p:nvSpPr>
        <p:spPr>
          <a:xfrm>
            <a:off x="2059334" y="504825"/>
            <a:ext cx="1533525"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Category: Cybersecurity</a:t>
            </a:r>
          </a:p>
        </p:txBody>
      </p:sp>
      <p:sp>
        <p:nvSpPr>
          <p:cNvPr id="16" name="TextBox 15"/>
          <p:cNvSpPr txBox="1"/>
          <p:nvPr/>
        </p:nvSpPr>
        <p:spPr>
          <a:xfrm>
            <a:off x="3507134" y="504825"/>
            <a:ext cx="104775" cy="152400"/>
          </a:xfrm>
          <a:prstGeom prst="rect">
            <a:avLst/>
          </a:prstGeom>
          <a:noFill/>
        </p:spPr>
        <p:txBody>
          <a:bodyPr wrap="square" lIns="0" tIns="0" rIns="0" bIns="0" anchor="t">
            <a:spAutoFit/>
          </a:bodyPr>
          <a:lstStyle/>
          <a:p>
            <a:pPr algn="l">
              <a:lnSpc>
                <a:spcPts val="1200"/>
              </a:lnSpc>
            </a:pPr>
            <a:r>
              <a:rPr sz="900" b="0" i="0" u="none">
                <a:solidFill>
                  <a:srgbClr val="CBD5E1"/>
                </a:solidFill>
                <a:latin typeface="Inter"/>
              </a:rPr>
              <a:t>•</a:t>
            </a:r>
          </a:p>
        </p:txBody>
      </p:sp>
      <p:sp>
        <p:nvSpPr>
          <p:cNvPr id="17" name="TextBox 16"/>
          <p:cNvSpPr txBox="1"/>
          <p:nvPr/>
        </p:nvSpPr>
        <p:spPr>
          <a:xfrm>
            <a:off x="3688109" y="504825"/>
            <a:ext cx="173069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Problem Statement: PS-019</a:t>
            </a:r>
          </a:p>
        </p:txBody>
      </p:sp>
      <p:sp>
        <p:nvSpPr>
          <p:cNvPr id="18" name="TextBox 17"/>
          <p:cNvSpPr txBox="1"/>
          <p:nvPr/>
        </p:nvSpPr>
        <p:spPr>
          <a:xfrm>
            <a:off x="600075" y="5719762"/>
            <a:ext cx="2782252" cy="157162"/>
          </a:xfrm>
          <a:prstGeom prst="rect">
            <a:avLst/>
          </a:prstGeom>
          <a:noFill/>
        </p:spPr>
        <p:txBody>
          <a:bodyPr wrap="square" lIns="0" tIns="0" rIns="0" bIns="0" anchor="t">
            <a:spAutoFit/>
          </a:bodyPr>
          <a:lstStyle/>
          <a:p>
            <a:pPr algn="l">
              <a:lnSpc>
                <a:spcPts val="1237"/>
              </a:lnSpc>
            </a:pPr>
            <a:r>
              <a:rPr sz="825" b="1" i="0" u="none" spc="41">
                <a:solidFill>
                  <a:srgbClr val="94A3B8"/>
                </a:solidFill>
                <a:latin typeface="Inter"/>
              </a:rPr>
              <a:t>LEAD SUBMITTER</a:t>
            </a:r>
          </a:p>
        </p:txBody>
      </p:sp>
      <p:sp>
        <p:nvSpPr>
          <p:cNvPr id="19" name="TextBox 18"/>
          <p:cNvSpPr txBox="1"/>
          <p:nvPr/>
        </p:nvSpPr>
        <p:spPr>
          <a:xfrm>
            <a:off x="600075" y="5895975"/>
            <a:ext cx="2782252"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Vibhakar Gangwar</a:t>
            </a:r>
          </a:p>
        </p:txBody>
      </p:sp>
      <p:sp>
        <p:nvSpPr>
          <p:cNvPr id="20" name="TextBox 19"/>
          <p:cNvSpPr txBox="1"/>
          <p:nvPr/>
        </p:nvSpPr>
        <p:spPr>
          <a:xfrm>
            <a:off x="600075" y="6105525"/>
            <a:ext cx="2782252" cy="152400"/>
          </a:xfrm>
          <a:prstGeom prst="rect">
            <a:avLst/>
          </a:prstGeom>
          <a:noFill/>
        </p:spPr>
        <p:txBody>
          <a:bodyPr wrap="square" lIns="0" tIns="0" rIns="0" bIns="0" anchor="t">
            <a:spAutoFit/>
          </a:bodyPr>
          <a:lstStyle/>
          <a:p>
            <a:pPr algn="l">
              <a:lnSpc>
                <a:spcPts val="1200"/>
              </a:lnSpc>
            </a:pPr>
            <a:r>
              <a:rPr sz="900" b="0" i="0" u="none">
                <a:solidFill>
                  <a:srgbClr val="475569"/>
                </a:solidFill>
                <a:latin typeface="Inter"/>
              </a:rPr>
              <a:t>vibhakargangwar@gmail.com</a:t>
            </a:r>
          </a:p>
        </p:txBody>
      </p:sp>
      <p:sp>
        <p:nvSpPr>
          <p:cNvPr id="21" name="TextBox 20"/>
          <p:cNvSpPr txBox="1"/>
          <p:nvPr/>
        </p:nvSpPr>
        <p:spPr>
          <a:xfrm>
            <a:off x="3457575" y="5719762"/>
            <a:ext cx="2782252" cy="157162"/>
          </a:xfrm>
          <a:prstGeom prst="rect">
            <a:avLst/>
          </a:prstGeom>
          <a:noFill/>
        </p:spPr>
        <p:txBody>
          <a:bodyPr wrap="square" lIns="0" tIns="0" rIns="0" bIns="0" anchor="t">
            <a:spAutoFit/>
          </a:bodyPr>
          <a:lstStyle/>
          <a:p>
            <a:pPr algn="l">
              <a:lnSpc>
                <a:spcPts val="1237"/>
              </a:lnSpc>
            </a:pPr>
            <a:r>
              <a:rPr sz="825" b="1" i="0" u="none" spc="41">
                <a:solidFill>
                  <a:srgbClr val="94A3B8"/>
                </a:solidFill>
                <a:latin typeface="Inter"/>
              </a:rPr>
              <a:t>TEAM NAME</a:t>
            </a:r>
          </a:p>
        </p:txBody>
      </p:sp>
      <p:sp>
        <p:nvSpPr>
          <p:cNvPr id="22" name="TextBox 21"/>
          <p:cNvSpPr txBox="1"/>
          <p:nvPr/>
        </p:nvSpPr>
        <p:spPr>
          <a:xfrm>
            <a:off x="3457575" y="5895975"/>
            <a:ext cx="2782252"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Team Infynex</a:t>
            </a:r>
          </a:p>
        </p:txBody>
      </p:sp>
      <p:sp>
        <p:nvSpPr>
          <p:cNvPr id="23" name="TextBox 22"/>
          <p:cNvSpPr txBox="1"/>
          <p:nvPr/>
        </p:nvSpPr>
        <p:spPr>
          <a:xfrm>
            <a:off x="3457575" y="6105525"/>
            <a:ext cx="2782252" cy="152400"/>
          </a:xfrm>
          <a:prstGeom prst="rect">
            <a:avLst/>
          </a:prstGeom>
          <a:noFill/>
        </p:spPr>
        <p:txBody>
          <a:bodyPr wrap="square" lIns="0" tIns="0" rIns="0" bIns="0" anchor="t">
            <a:spAutoFit/>
          </a:bodyPr>
          <a:lstStyle/>
          <a:p>
            <a:pPr algn="l">
              <a:lnSpc>
                <a:spcPts val="1200"/>
              </a:lnSpc>
            </a:pPr>
            <a:r>
              <a:rPr sz="900" b="0" i="0" u="none">
                <a:solidFill>
                  <a:srgbClr val="1D4ED8"/>
                </a:solidFill>
                <a:latin typeface="Inter"/>
              </a:rPr>
              <a:t>Project Privexis</a:t>
            </a:r>
          </a:p>
        </p:txBody>
      </p:sp>
      <p:sp>
        <p:nvSpPr>
          <p:cNvPr id="24" name="TextBox 23"/>
          <p:cNvSpPr txBox="1"/>
          <p:nvPr/>
        </p:nvSpPr>
        <p:spPr>
          <a:xfrm>
            <a:off x="6315075" y="5719762"/>
            <a:ext cx="2782252" cy="157162"/>
          </a:xfrm>
          <a:prstGeom prst="rect">
            <a:avLst/>
          </a:prstGeom>
          <a:noFill/>
        </p:spPr>
        <p:txBody>
          <a:bodyPr wrap="square" lIns="0" tIns="0" rIns="0" bIns="0" anchor="t">
            <a:spAutoFit/>
          </a:bodyPr>
          <a:lstStyle/>
          <a:p>
            <a:pPr algn="l">
              <a:lnSpc>
                <a:spcPts val="1237"/>
              </a:lnSpc>
            </a:pPr>
            <a:r>
              <a:rPr sz="825" b="1" i="0" u="none" spc="41">
                <a:solidFill>
                  <a:srgbClr val="94A3B8"/>
                </a:solidFill>
                <a:latin typeface="Inter"/>
              </a:rPr>
              <a:t>ACADEMIC INSTITUTION</a:t>
            </a:r>
          </a:p>
        </p:txBody>
      </p:sp>
      <p:sp>
        <p:nvSpPr>
          <p:cNvPr id="25" name="TextBox 24"/>
          <p:cNvSpPr txBox="1"/>
          <p:nvPr/>
        </p:nvSpPr>
        <p:spPr>
          <a:xfrm>
            <a:off x="6315075" y="5895975"/>
            <a:ext cx="2782252"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Invertis University</a:t>
            </a:r>
          </a:p>
        </p:txBody>
      </p:sp>
      <p:sp>
        <p:nvSpPr>
          <p:cNvPr id="26" name="TextBox 25"/>
          <p:cNvSpPr txBox="1"/>
          <p:nvPr/>
        </p:nvSpPr>
        <p:spPr>
          <a:xfrm>
            <a:off x="6315075" y="6105525"/>
            <a:ext cx="2782252" cy="152400"/>
          </a:xfrm>
          <a:prstGeom prst="rect">
            <a:avLst/>
          </a:prstGeom>
          <a:noFill/>
        </p:spPr>
        <p:txBody>
          <a:bodyPr wrap="square" lIns="0" tIns="0" rIns="0" bIns="0" anchor="t">
            <a:spAutoFit/>
          </a:bodyPr>
          <a:lstStyle/>
          <a:p>
            <a:pPr algn="l">
              <a:lnSpc>
                <a:spcPts val="1200"/>
              </a:lnSpc>
            </a:pPr>
            <a:r>
              <a:rPr sz="900" b="0" i="0" u="none">
                <a:solidFill>
                  <a:srgbClr val="475569"/>
                </a:solidFill>
                <a:latin typeface="Inter"/>
              </a:rPr>
              <a:t>Bareilly, Uttar Pradesh</a:t>
            </a:r>
          </a:p>
        </p:txBody>
      </p:sp>
      <p:sp>
        <p:nvSpPr>
          <p:cNvPr id="27" name="TextBox 26"/>
          <p:cNvSpPr txBox="1"/>
          <p:nvPr/>
        </p:nvSpPr>
        <p:spPr>
          <a:xfrm>
            <a:off x="9172575" y="5719762"/>
            <a:ext cx="2782252" cy="157162"/>
          </a:xfrm>
          <a:prstGeom prst="rect">
            <a:avLst/>
          </a:prstGeom>
          <a:noFill/>
        </p:spPr>
        <p:txBody>
          <a:bodyPr wrap="square" lIns="0" tIns="0" rIns="0" bIns="0" anchor="t">
            <a:spAutoFit/>
          </a:bodyPr>
          <a:lstStyle/>
          <a:p>
            <a:pPr algn="l">
              <a:lnSpc>
                <a:spcPts val="1237"/>
              </a:lnSpc>
            </a:pPr>
            <a:r>
              <a:rPr sz="825" b="1" i="0" u="none" spc="41">
                <a:solidFill>
                  <a:srgbClr val="94A3B8"/>
                </a:solidFill>
                <a:latin typeface="Inter"/>
              </a:rPr>
              <a:t>PRESENTATION DATE</a:t>
            </a:r>
          </a:p>
        </p:txBody>
      </p:sp>
      <p:sp>
        <p:nvSpPr>
          <p:cNvPr id="28" name="TextBox 27"/>
          <p:cNvSpPr txBox="1"/>
          <p:nvPr/>
        </p:nvSpPr>
        <p:spPr>
          <a:xfrm>
            <a:off x="9172575" y="5895975"/>
            <a:ext cx="2782252"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October 14, 2026</a:t>
            </a:r>
          </a:p>
        </p:txBody>
      </p:sp>
      <p:sp>
        <p:nvSpPr>
          <p:cNvPr id="29" name="TextBox 28"/>
          <p:cNvSpPr txBox="1"/>
          <p:nvPr/>
        </p:nvSpPr>
        <p:spPr>
          <a:xfrm>
            <a:off x="9172575" y="6105525"/>
            <a:ext cx="2782252" cy="152400"/>
          </a:xfrm>
          <a:prstGeom prst="rect">
            <a:avLst/>
          </a:prstGeom>
          <a:noFill/>
        </p:spPr>
        <p:txBody>
          <a:bodyPr wrap="square" lIns="0" tIns="0" rIns="0" bIns="0" anchor="t">
            <a:spAutoFit/>
          </a:bodyPr>
          <a:lstStyle/>
          <a:p>
            <a:pPr algn="l">
              <a:lnSpc>
                <a:spcPts val="1200"/>
              </a:lnSpc>
            </a:pPr>
            <a:r>
              <a:rPr sz="900" b="0" i="0" u="none">
                <a:solidFill>
                  <a:srgbClr val="475569"/>
                </a:solidFill>
                <a:latin typeface="Inter"/>
              </a:rPr>
              <a:t>AIORI Hackathon 3 Submission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04800" y="5991225"/>
            <a:ext cx="11582400" cy="323850"/>
          </a:xfrm>
          <a:prstGeom prst="roundRect">
            <a:avLst>
              <a:gd name="adj" fmla="val 23529"/>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04800" y="1285875"/>
            <a:ext cx="3759100" cy="4591050"/>
          </a:xfrm>
          <a:prstGeom prst="roundRect">
            <a:avLst>
              <a:gd name="adj" fmla="val 304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216300" y="1285875"/>
            <a:ext cx="3759249" cy="4591050"/>
          </a:xfrm>
          <a:prstGeom prst="roundRect">
            <a:avLst>
              <a:gd name="adj" fmla="val 3040"/>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127950" y="1285875"/>
            <a:ext cx="3759100" cy="4591050"/>
          </a:xfrm>
          <a:prstGeom prst="roundRect">
            <a:avLst>
              <a:gd name="adj" fmla="val 3040"/>
            </a:avLst>
          </a:prstGeom>
          <a:solidFill>
            <a:srgbClr val="F8FAFC"/>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466725" y="5348287"/>
            <a:ext cx="3435250" cy="366712"/>
          </a:xfrm>
          <a:prstGeom prst="roundRect">
            <a:avLst>
              <a:gd name="adj" fmla="val 1038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4378225" y="5348287"/>
            <a:ext cx="3435399" cy="366712"/>
          </a:xfrm>
          <a:prstGeom prst="roundRect">
            <a:avLst>
              <a:gd name="adj" fmla="val 1038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8289875" y="5348287"/>
            <a:ext cx="3435250" cy="366712"/>
          </a:xfrm>
          <a:prstGeom prst="roundRect">
            <a:avLst>
              <a:gd name="adj" fmla="val 10389"/>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966573" y="304800"/>
            <a:ext cx="220872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PS-019 • Problem Description</a:t>
            </a:r>
          </a:p>
        </p:txBody>
      </p:sp>
      <p:sp>
        <p:nvSpPr>
          <p:cNvPr id="11" name="TextBox 10"/>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Problem Description</a:t>
            </a:r>
          </a:p>
        </p:txBody>
      </p:sp>
      <p:sp>
        <p:nvSpPr>
          <p:cNvPr id="12" name="TextBox 11"/>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Stored personal data is hard to find, and its purpose and retention are rarely documented.</a:t>
            </a:r>
          </a:p>
        </p:txBody>
      </p:sp>
      <p:sp>
        <p:nvSpPr>
          <p:cNvPr id="13" name="TextBox 12"/>
          <p:cNvSpPr txBox="1"/>
          <p:nvPr/>
        </p:nvSpPr>
        <p:spPr>
          <a:xfrm>
            <a:off x="466725" y="6076950"/>
            <a:ext cx="7733347" cy="152400"/>
          </a:xfrm>
          <a:prstGeom prst="rect">
            <a:avLst/>
          </a:prstGeom>
          <a:noFill/>
        </p:spPr>
        <p:txBody>
          <a:bodyPr wrap="square" lIns="0" tIns="0" rIns="0" bIns="0" anchor="ctr">
            <a:spAutoFit/>
          </a:bodyPr>
          <a:lstStyle/>
          <a:p>
            <a:pPr algn="l">
              <a:lnSpc>
                <a:spcPts val="1200"/>
              </a:lnSpc>
            </a:pPr>
            <a:r>
              <a:rPr sz="900" b="1" i="0" u="none">
                <a:solidFill>
                  <a:srgbClr val="1E293B"/>
                </a:solidFill>
                <a:latin typeface="Inter"/>
              </a:rPr>
              <a:t>Clear Scope Boundary:</a:t>
            </a:r>
          </a:p>
        </p:txBody>
      </p:sp>
      <p:sp>
        <p:nvSpPr>
          <p:cNvPr id="14" name="TextBox 13"/>
          <p:cNvSpPr txBox="1"/>
          <p:nvPr/>
        </p:nvSpPr>
        <p:spPr>
          <a:xfrm>
            <a:off x="10530631" y="6076950"/>
            <a:ext cx="1373839" cy="152400"/>
          </a:xfrm>
          <a:prstGeom prst="rect">
            <a:avLst/>
          </a:prstGeom>
          <a:noFill/>
        </p:spPr>
        <p:txBody>
          <a:bodyPr wrap="square" lIns="0" tIns="0" rIns="0" bIns="0" anchor="t">
            <a:spAutoFit/>
          </a:bodyPr>
          <a:lstStyle/>
          <a:p>
            <a:pPr algn="l">
              <a:lnSpc>
                <a:spcPts val="1200"/>
              </a:lnSpc>
            </a:pPr>
            <a:r>
              <a:rPr sz="825" b="0" i="0" u="none">
                <a:solidFill>
                  <a:srgbClr val="64748B"/>
                </a:solidFill>
                <a:latin typeface="ui-monospace"/>
              </a:rPr>
              <a:t>Synthetic Data Only</a:t>
            </a:r>
          </a:p>
        </p:txBody>
      </p:sp>
      <p:sp>
        <p:nvSpPr>
          <p:cNvPr id="15" name="TextBox 14"/>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16" name="TextBox 15"/>
          <p:cNvSpPr txBox="1"/>
          <p:nvPr/>
        </p:nvSpPr>
        <p:spPr>
          <a:xfrm>
            <a:off x="11610975" y="6400800"/>
            <a:ext cx="317658"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2 / 11</a:t>
            </a:r>
          </a:p>
        </p:txBody>
      </p:sp>
      <p:sp>
        <p:nvSpPr>
          <p:cNvPr id="17" name="TextBox 16"/>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18" name="TextBox 17"/>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19" name="TextBox 18"/>
          <p:cNvSpPr txBox="1"/>
          <p:nvPr/>
        </p:nvSpPr>
        <p:spPr>
          <a:xfrm>
            <a:off x="944909" y="304800"/>
            <a:ext cx="547687"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Abstract</a:t>
            </a:r>
          </a:p>
        </p:txBody>
      </p:sp>
      <p:sp>
        <p:nvSpPr>
          <p:cNvPr id="20" name="TextBox 19"/>
          <p:cNvSpPr txBox="1"/>
          <p:nvPr/>
        </p:nvSpPr>
        <p:spPr>
          <a:xfrm>
            <a:off x="1838325" y="6076950"/>
            <a:ext cx="6156007" cy="152400"/>
          </a:xfrm>
          <a:prstGeom prst="rect">
            <a:avLst/>
          </a:prstGeom>
          <a:noFill/>
        </p:spPr>
        <p:txBody>
          <a:bodyPr wrap="square" lIns="0" tIns="0" rIns="0" bIns="0" anchor="t">
            <a:spAutoFit/>
          </a:bodyPr>
          <a:lstStyle/>
          <a:p>
            <a:pPr algn="l">
              <a:lnSpc>
                <a:spcPts val="1200"/>
              </a:lnSpc>
            </a:pPr>
            <a:r>
              <a:rPr sz="900" b="0" i="0" u="none">
                <a:solidFill>
                  <a:srgbClr val="475569"/>
                </a:solidFill>
                <a:latin typeface="Inter"/>
              </a:rPr>
              <a:t>Outputs technical evidence only. Makes no automatic legal decisions or compliance determinations.</a:t>
            </a:r>
          </a:p>
        </p:txBody>
      </p:sp>
      <p:pic>
        <p:nvPicPr>
          <p:cNvPr id="21" name="Picture 20" descr="image.png"/>
          <p:cNvPicPr>
            <a:picLocks noChangeAspect="1"/>
          </p:cNvPicPr>
          <p:nvPr/>
        </p:nvPicPr>
        <p:blipFill>
          <a:blip r:embed="rId2"/>
          <a:stretch>
            <a:fillRect/>
          </a:stretch>
        </p:blipFill>
        <p:spPr>
          <a:xfrm>
            <a:off x="466725" y="1447800"/>
            <a:ext cx="342900" cy="342900"/>
          </a:xfrm>
          <a:prstGeom prst="rect">
            <a:avLst/>
          </a:prstGeom>
        </p:spPr>
      </p:pic>
      <p:sp>
        <p:nvSpPr>
          <p:cNvPr id="22" name="TextBox 21"/>
          <p:cNvSpPr txBox="1"/>
          <p:nvPr/>
        </p:nvSpPr>
        <p:spPr>
          <a:xfrm>
            <a:off x="466725" y="1905000"/>
            <a:ext cx="3950538"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Dark Data Accumulation</a:t>
            </a:r>
          </a:p>
        </p:txBody>
      </p:sp>
      <p:pic>
        <p:nvPicPr>
          <p:cNvPr id="23" name="Picture 22" descr="image.png"/>
          <p:cNvPicPr>
            <a:picLocks noChangeAspect="1"/>
          </p:cNvPicPr>
          <p:nvPr/>
        </p:nvPicPr>
        <p:blipFill>
          <a:blip r:embed="rId3"/>
          <a:stretch>
            <a:fillRect/>
          </a:stretch>
        </p:blipFill>
        <p:spPr>
          <a:xfrm>
            <a:off x="571500" y="5481637"/>
            <a:ext cx="104775" cy="104775"/>
          </a:xfrm>
          <a:prstGeom prst="rect">
            <a:avLst/>
          </a:prstGeom>
        </p:spPr>
      </p:pic>
      <p:pic>
        <p:nvPicPr>
          <p:cNvPr id="24" name="Picture 23" descr="image.png"/>
          <p:cNvPicPr>
            <a:picLocks noChangeAspect="1"/>
          </p:cNvPicPr>
          <p:nvPr/>
        </p:nvPicPr>
        <p:blipFill>
          <a:blip r:embed="rId4"/>
          <a:stretch>
            <a:fillRect/>
          </a:stretch>
        </p:blipFill>
        <p:spPr>
          <a:xfrm>
            <a:off x="4378225" y="1447800"/>
            <a:ext cx="342900" cy="342900"/>
          </a:xfrm>
          <a:prstGeom prst="rect">
            <a:avLst/>
          </a:prstGeom>
        </p:spPr>
      </p:pic>
      <p:sp>
        <p:nvSpPr>
          <p:cNvPr id="25" name="TextBox 24"/>
          <p:cNvSpPr txBox="1"/>
          <p:nvPr/>
        </p:nvSpPr>
        <p:spPr>
          <a:xfrm>
            <a:off x="4378225" y="1905000"/>
            <a:ext cx="3950709"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Missing Metadata Gap</a:t>
            </a:r>
          </a:p>
        </p:txBody>
      </p:sp>
      <p:pic>
        <p:nvPicPr>
          <p:cNvPr id="26" name="Picture 25" descr="image.png"/>
          <p:cNvPicPr>
            <a:picLocks noChangeAspect="1"/>
          </p:cNvPicPr>
          <p:nvPr/>
        </p:nvPicPr>
        <p:blipFill>
          <a:blip r:embed="rId5"/>
          <a:stretch>
            <a:fillRect/>
          </a:stretch>
        </p:blipFill>
        <p:spPr>
          <a:xfrm>
            <a:off x="4483000" y="5481637"/>
            <a:ext cx="104775" cy="104775"/>
          </a:xfrm>
          <a:prstGeom prst="rect">
            <a:avLst/>
          </a:prstGeom>
        </p:spPr>
      </p:pic>
      <p:pic>
        <p:nvPicPr>
          <p:cNvPr id="27" name="Picture 26" descr="image.png"/>
          <p:cNvPicPr>
            <a:picLocks noChangeAspect="1"/>
          </p:cNvPicPr>
          <p:nvPr/>
        </p:nvPicPr>
        <p:blipFill>
          <a:blip r:embed="rId6"/>
          <a:stretch>
            <a:fillRect/>
          </a:stretch>
        </p:blipFill>
        <p:spPr>
          <a:xfrm>
            <a:off x="8289875" y="1447800"/>
            <a:ext cx="342900" cy="342900"/>
          </a:xfrm>
          <a:prstGeom prst="rect">
            <a:avLst/>
          </a:prstGeom>
        </p:spPr>
      </p:pic>
      <p:sp>
        <p:nvSpPr>
          <p:cNvPr id="28" name="TextBox 27"/>
          <p:cNvSpPr txBox="1"/>
          <p:nvPr/>
        </p:nvSpPr>
        <p:spPr>
          <a:xfrm>
            <a:off x="8289875" y="1905000"/>
            <a:ext cx="3902124" cy="190500"/>
          </a:xfrm>
          <a:prstGeom prst="rect">
            <a:avLst/>
          </a:prstGeom>
          <a:noFill/>
        </p:spPr>
        <p:txBody>
          <a:bodyPr wrap="square" lIns="0" tIns="0" rIns="0" bIns="0" anchor="t">
            <a:spAutoFit/>
          </a:bodyPr>
          <a:lstStyle/>
          <a:p>
            <a:pPr algn="l">
              <a:lnSpc>
                <a:spcPts val="1500"/>
              </a:lnSpc>
            </a:pPr>
            <a:r>
              <a:rPr sz="1050" b="1" i="0" u="none">
                <a:solidFill>
                  <a:srgbClr val="172554"/>
                </a:solidFill>
                <a:latin typeface="Inter"/>
              </a:rPr>
              <a:t>The Privexis Solution</a:t>
            </a:r>
          </a:p>
        </p:txBody>
      </p:sp>
      <p:pic>
        <p:nvPicPr>
          <p:cNvPr id="29" name="Picture 28" descr="image.png"/>
          <p:cNvPicPr>
            <a:picLocks noChangeAspect="1"/>
          </p:cNvPicPr>
          <p:nvPr/>
        </p:nvPicPr>
        <p:blipFill>
          <a:blip r:embed="rId7"/>
          <a:stretch>
            <a:fillRect/>
          </a:stretch>
        </p:blipFill>
        <p:spPr>
          <a:xfrm>
            <a:off x="8394650" y="5481637"/>
            <a:ext cx="76200" cy="104775"/>
          </a:xfrm>
          <a:prstGeom prst="rect">
            <a:avLst/>
          </a:prstGeom>
        </p:spPr>
      </p:pic>
      <p:pic>
        <p:nvPicPr>
          <p:cNvPr id="30" name="Picture 29" descr="image.png"/>
          <p:cNvPicPr>
            <a:picLocks noChangeAspect="1"/>
          </p:cNvPicPr>
          <p:nvPr/>
        </p:nvPicPr>
        <p:blipFill>
          <a:blip r:embed="rId8"/>
          <a:stretch>
            <a:fillRect/>
          </a:stretch>
        </p:blipFill>
        <p:spPr>
          <a:xfrm>
            <a:off x="581025" y="1524000"/>
            <a:ext cx="114300" cy="190500"/>
          </a:xfrm>
          <a:prstGeom prst="rect">
            <a:avLst/>
          </a:prstGeom>
        </p:spPr>
      </p:pic>
      <p:sp>
        <p:nvSpPr>
          <p:cNvPr id="31" name="TextBox 30"/>
          <p:cNvSpPr txBox="1"/>
          <p:nvPr/>
        </p:nvSpPr>
        <p:spPr>
          <a:xfrm>
            <a:off x="466725" y="2152650"/>
            <a:ext cx="3435250"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 Personal data (PII) builds up in unindexed database tables and CSV spreadsheets over time.</a:t>
            </a:r>
          </a:p>
        </p:txBody>
      </p:sp>
      <p:sp>
        <p:nvSpPr>
          <p:cNvPr id="32" name="TextBox 31"/>
          <p:cNvSpPr txBox="1"/>
          <p:nvPr/>
        </p:nvSpPr>
        <p:spPr>
          <a:xfrm>
            <a:off x="466725" y="2581275"/>
            <a:ext cx="3435250"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 Manual data discovery audits are painfully slow and regularly miss nested or renamed fields.</a:t>
            </a:r>
          </a:p>
        </p:txBody>
      </p:sp>
      <p:pic>
        <p:nvPicPr>
          <p:cNvPr id="33" name="Picture 32" descr="image.png"/>
          <p:cNvPicPr>
            <a:picLocks noChangeAspect="1"/>
          </p:cNvPicPr>
          <p:nvPr/>
        </p:nvPicPr>
        <p:blipFill>
          <a:blip r:embed="rId9"/>
          <a:stretch>
            <a:fillRect/>
          </a:stretch>
        </p:blipFill>
        <p:spPr>
          <a:xfrm>
            <a:off x="4463950" y="1524000"/>
            <a:ext cx="171450" cy="190500"/>
          </a:xfrm>
          <a:prstGeom prst="rect">
            <a:avLst/>
          </a:prstGeom>
        </p:spPr>
      </p:pic>
      <p:sp>
        <p:nvSpPr>
          <p:cNvPr id="34" name="TextBox 33"/>
          <p:cNvSpPr txBox="1"/>
          <p:nvPr/>
        </p:nvSpPr>
        <p:spPr>
          <a:xfrm>
            <a:off x="4378225" y="2152650"/>
            <a:ext cx="3435399"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 Data protection laws mandate linking each stored item to a declared purpose &amp; retention rule.</a:t>
            </a:r>
          </a:p>
        </p:txBody>
      </p:sp>
      <p:sp>
        <p:nvSpPr>
          <p:cNvPr id="35" name="TextBox 34"/>
          <p:cNvSpPr txBox="1"/>
          <p:nvPr/>
        </p:nvSpPr>
        <p:spPr>
          <a:xfrm>
            <a:off x="4378225" y="2581275"/>
            <a:ext cx="3435399"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 In practice, discovery outputs are rarely connected to enterprise retention schedules.</a:t>
            </a:r>
          </a:p>
        </p:txBody>
      </p:sp>
      <p:sp>
        <p:nvSpPr>
          <p:cNvPr id="36" name="TextBox 35"/>
          <p:cNvSpPr txBox="1"/>
          <p:nvPr/>
        </p:nvSpPr>
        <p:spPr>
          <a:xfrm>
            <a:off x="8289875" y="2152650"/>
            <a:ext cx="3435250" cy="371475"/>
          </a:xfrm>
          <a:prstGeom prst="rect">
            <a:avLst/>
          </a:prstGeom>
          <a:noFill/>
        </p:spPr>
        <p:txBody>
          <a:bodyPr wrap="square" lIns="0" tIns="0" rIns="0" bIns="0" anchor="t">
            <a:spAutoFit/>
          </a:bodyPr>
          <a:lstStyle/>
          <a:p>
            <a:pPr algn="l">
              <a:lnSpc>
                <a:spcPts val="1462"/>
              </a:lnSpc>
            </a:pPr>
            <a:r>
              <a:rPr sz="900" b="0" i="0" u="none">
                <a:solidFill>
                  <a:srgbClr val="334155"/>
                </a:solidFill>
                <a:latin typeface="Inter"/>
              </a:rPr>
              <a:t>• Inspects synthetic CSVs &amp; SQLite across 5 predefined personal-data classes.</a:t>
            </a:r>
          </a:p>
        </p:txBody>
      </p:sp>
      <p:sp>
        <p:nvSpPr>
          <p:cNvPr id="37" name="TextBox 36"/>
          <p:cNvSpPr txBox="1"/>
          <p:nvPr/>
        </p:nvSpPr>
        <p:spPr>
          <a:xfrm>
            <a:off x="8289875" y="2581275"/>
            <a:ext cx="3435250" cy="371475"/>
          </a:xfrm>
          <a:prstGeom prst="rect">
            <a:avLst/>
          </a:prstGeom>
          <a:noFill/>
        </p:spPr>
        <p:txBody>
          <a:bodyPr wrap="square" lIns="0" tIns="0" rIns="0" bIns="0" anchor="t">
            <a:spAutoFit/>
          </a:bodyPr>
          <a:lstStyle/>
          <a:p>
            <a:pPr algn="l">
              <a:lnSpc>
                <a:spcPts val="1462"/>
              </a:lnSpc>
            </a:pPr>
            <a:r>
              <a:rPr sz="900" b="0" i="0" u="none">
                <a:solidFill>
                  <a:srgbClr val="334155"/>
                </a:solidFill>
                <a:latin typeface="Inter"/>
              </a:rPr>
              <a:t>• Automates linking candidate fields to declared business purpose &amp; retention metadata.</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66725" y="2162175"/>
            <a:ext cx="3138487" cy="685800"/>
          </a:xfrm>
          <a:prstGeom prst="rect">
            <a:avLst/>
          </a:prstGeom>
        </p:spPr>
      </p:pic>
      <p:pic>
        <p:nvPicPr>
          <p:cNvPr id="3" name="Picture 2" descr="image.png"/>
          <p:cNvPicPr>
            <a:picLocks noChangeAspect="1"/>
          </p:cNvPicPr>
          <p:nvPr/>
        </p:nvPicPr>
        <p:blipFill>
          <a:blip r:embed="rId3"/>
          <a:stretch>
            <a:fillRect/>
          </a:stretch>
        </p:blipFill>
        <p:spPr>
          <a:xfrm>
            <a:off x="3681412" y="2162175"/>
            <a:ext cx="3138487" cy="685800"/>
          </a:xfrm>
          <a:prstGeom prst="rect">
            <a:avLst/>
          </a:prstGeom>
        </p:spPr>
      </p:pic>
      <p:sp>
        <p:nvSpPr>
          <p:cNvPr id="4" name="Rounded Rectangle 3"/>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172325" y="1285875"/>
            <a:ext cx="4714875" cy="4914900"/>
          </a:xfrm>
          <a:prstGeom prst="roundRect">
            <a:avLst>
              <a:gd name="adj" fmla="val 242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304800" y="1285875"/>
            <a:ext cx="6677025" cy="1724025"/>
          </a:xfrm>
          <a:prstGeom prst="roundRect">
            <a:avLst>
              <a:gd name="adj" fmla="val 662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304800" y="5129212"/>
            <a:ext cx="6677025" cy="1071562"/>
          </a:xfrm>
          <a:prstGeom prst="roundRect">
            <a:avLst>
              <a:gd name="adj" fmla="val 10666"/>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7334250" y="5672137"/>
            <a:ext cx="4391025" cy="366712"/>
          </a:xfrm>
          <a:prstGeom prst="roundRect">
            <a:avLst>
              <a:gd name="adj" fmla="val 10389"/>
            </a:avLst>
          </a:prstGeom>
          <a:solidFill>
            <a:srgbClr val="EFF6FF">
              <a:alpha val="70000"/>
            </a:srgbClr>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7334250" y="1762125"/>
            <a:ext cx="4391025" cy="778668"/>
          </a:xfrm>
          <a:prstGeom prst="roundRect">
            <a:avLst>
              <a:gd name="adj" fmla="val 9785"/>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7334250" y="2636043"/>
            <a:ext cx="4391025" cy="778668"/>
          </a:xfrm>
          <a:prstGeom prst="roundRect">
            <a:avLst>
              <a:gd name="adj" fmla="val 978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35182" y="304800"/>
            <a:ext cx="2129819"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Statutory &amp; Technical Basis</a:t>
            </a:r>
          </a:p>
        </p:txBody>
      </p:sp>
      <p:sp>
        <p:nvSpPr>
          <p:cNvPr id="12" name="TextBox 11"/>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Background</a:t>
            </a:r>
          </a:p>
        </p:txBody>
      </p:sp>
      <p:sp>
        <p:nvSpPr>
          <p:cNvPr id="13" name="TextBox 12"/>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Finding personal data is the first step to governing it.</a:t>
            </a:r>
          </a:p>
        </p:txBody>
      </p:sp>
      <p:sp>
        <p:nvSpPr>
          <p:cNvPr id="14" name="TextBox 13"/>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15" name="TextBox 14"/>
          <p:cNvSpPr txBox="1"/>
          <p:nvPr/>
        </p:nvSpPr>
        <p:spPr>
          <a:xfrm>
            <a:off x="11610975" y="6400800"/>
            <a:ext cx="317658"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3 / 11</a:t>
            </a:r>
          </a:p>
        </p:txBody>
      </p:sp>
      <p:sp>
        <p:nvSpPr>
          <p:cNvPr id="16" name="TextBox 15"/>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17" name="TextBox 16"/>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18" name="TextBox 17"/>
          <p:cNvSpPr txBox="1"/>
          <p:nvPr/>
        </p:nvSpPr>
        <p:spPr>
          <a:xfrm>
            <a:off x="944909" y="304800"/>
            <a:ext cx="766762"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Background</a:t>
            </a:r>
          </a:p>
        </p:txBody>
      </p:sp>
      <p:sp>
        <p:nvSpPr>
          <p:cNvPr id="19" name="TextBox 18"/>
          <p:cNvSpPr txBox="1"/>
          <p:nvPr/>
        </p:nvSpPr>
        <p:spPr>
          <a:xfrm>
            <a:off x="691604" y="1447800"/>
            <a:ext cx="7047540" cy="152400"/>
          </a:xfrm>
          <a:prstGeom prst="rect">
            <a:avLst/>
          </a:prstGeom>
          <a:noFill/>
        </p:spPr>
        <p:txBody>
          <a:bodyPr wrap="square" lIns="0" tIns="0" rIns="0" bIns="0" anchor="ctr">
            <a:spAutoFit/>
          </a:bodyPr>
          <a:lstStyle/>
          <a:p>
            <a:pPr algn="l">
              <a:lnSpc>
                <a:spcPts val="1200"/>
              </a:lnSpc>
            </a:pPr>
            <a:r>
              <a:rPr sz="900" b="1" i="0" u="none" spc="45">
                <a:solidFill>
                  <a:srgbClr val="1D4ED8"/>
                </a:solidFill>
                <a:latin typeface="Inter"/>
              </a:rPr>
              <a:t>STATUTORY GROUNDING: DPDP ACT, 2023 [1]</a:t>
            </a:r>
          </a:p>
        </p:txBody>
      </p:sp>
      <p:sp>
        <p:nvSpPr>
          <p:cNvPr id="20" name="TextBox 19"/>
          <p:cNvSpPr txBox="1"/>
          <p:nvPr/>
        </p:nvSpPr>
        <p:spPr>
          <a:xfrm>
            <a:off x="466725" y="1676400"/>
            <a:ext cx="6353175" cy="371475"/>
          </a:xfrm>
          <a:prstGeom prst="rect">
            <a:avLst/>
          </a:prstGeom>
          <a:noFill/>
        </p:spPr>
        <p:txBody>
          <a:bodyPr wrap="square" lIns="0" tIns="0" rIns="0" bIns="0" anchor="t">
            <a:spAutoFit/>
          </a:bodyPr>
          <a:lstStyle/>
          <a:p>
            <a:pPr algn="l">
              <a:lnSpc>
                <a:spcPts val="1462"/>
              </a:lnSpc>
            </a:pPr>
            <a:r>
              <a:rPr sz="900" b="0" i="0" u="none">
                <a:solidFill>
                  <a:srgbClr val="334155"/>
                </a:solidFill>
                <a:latin typeface="Inter"/>
              </a:rPr>
              <a:t>India's Digital Personal Data Protection Act, 2023 ties personal data to a specified purpose and expects erasure once that purpose is no longer served.</a:t>
            </a:r>
          </a:p>
        </p:txBody>
      </p:sp>
      <p:sp>
        <p:nvSpPr>
          <p:cNvPr id="21" name="TextBox 20"/>
          <p:cNvSpPr txBox="1"/>
          <p:nvPr/>
        </p:nvSpPr>
        <p:spPr>
          <a:xfrm>
            <a:off x="657225" y="5291137"/>
            <a:ext cx="7087076" cy="152400"/>
          </a:xfrm>
          <a:prstGeom prst="rect">
            <a:avLst/>
          </a:prstGeom>
          <a:noFill/>
        </p:spPr>
        <p:txBody>
          <a:bodyPr wrap="square" lIns="0" tIns="0" rIns="0" bIns="0" anchor="ctr">
            <a:spAutoFit/>
          </a:bodyPr>
          <a:lstStyle/>
          <a:p>
            <a:pPr algn="l">
              <a:lnSpc>
                <a:spcPts val="1200"/>
              </a:lnSpc>
            </a:pPr>
            <a:r>
              <a:rPr sz="900" b="1" i="0" u="none">
                <a:solidFill>
                  <a:srgbClr val="1E293B"/>
                </a:solidFill>
                <a:latin typeface="Inter"/>
              </a:rPr>
              <a:t>The Governance Requirement</a:t>
            </a:r>
          </a:p>
        </p:txBody>
      </p:sp>
      <p:sp>
        <p:nvSpPr>
          <p:cNvPr id="22" name="TextBox 21"/>
          <p:cNvSpPr txBox="1"/>
          <p:nvPr/>
        </p:nvSpPr>
        <p:spPr>
          <a:xfrm>
            <a:off x="466725" y="5481637"/>
            <a:ext cx="6353175" cy="557212"/>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A retention schedule records how long each category of data is kept, who owns it, and what happens at the end of its life. Because an organization cannot link purpose and retention to a field it has not discovered, automated discovery must precede governance.</a:t>
            </a:r>
          </a:p>
        </p:txBody>
      </p:sp>
      <p:sp>
        <p:nvSpPr>
          <p:cNvPr id="23" name="TextBox 22"/>
          <p:cNvSpPr txBox="1"/>
          <p:nvPr/>
        </p:nvSpPr>
        <p:spPr>
          <a:xfrm>
            <a:off x="7530554" y="1447800"/>
            <a:ext cx="4661445" cy="161925"/>
          </a:xfrm>
          <a:prstGeom prst="rect">
            <a:avLst/>
          </a:prstGeom>
          <a:noFill/>
        </p:spPr>
        <p:txBody>
          <a:bodyPr wrap="square" lIns="0" tIns="0" rIns="0" bIns="0" anchor="ctr">
            <a:spAutoFit/>
          </a:bodyPr>
          <a:lstStyle/>
          <a:p>
            <a:pPr algn="l">
              <a:lnSpc>
                <a:spcPts val="1200"/>
              </a:lnSpc>
            </a:pPr>
            <a:r>
              <a:rPr sz="900" b="1" i="0" u="none" spc="45">
                <a:solidFill>
                  <a:srgbClr val="0F172A"/>
                </a:solidFill>
                <a:latin typeface="Inter"/>
              </a:rPr>
              <a:t>SCOPE &amp; RESPONSIBILITY BOUNDARIES</a:t>
            </a:r>
          </a:p>
        </p:txBody>
      </p:sp>
      <p:sp>
        <p:nvSpPr>
          <p:cNvPr id="24" name="Rectangle 23"/>
          <p:cNvSpPr/>
          <p:nvPr/>
        </p:nvSpPr>
        <p:spPr>
          <a:xfrm>
            <a:off x="7334250" y="1638300"/>
            <a:ext cx="4391025" cy="9525"/>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image.png"/>
          <p:cNvPicPr>
            <a:picLocks noChangeAspect="1"/>
          </p:cNvPicPr>
          <p:nvPr/>
        </p:nvPicPr>
        <p:blipFill>
          <a:blip r:embed="rId4"/>
          <a:stretch>
            <a:fillRect/>
          </a:stretch>
        </p:blipFill>
        <p:spPr>
          <a:xfrm>
            <a:off x="7439025" y="5805487"/>
            <a:ext cx="104775" cy="104775"/>
          </a:xfrm>
          <a:prstGeom prst="rect">
            <a:avLst/>
          </a:prstGeom>
        </p:spPr>
      </p:pic>
      <p:pic>
        <p:nvPicPr>
          <p:cNvPr id="26" name="Picture 25" descr="image.png"/>
          <p:cNvPicPr>
            <a:picLocks noChangeAspect="1"/>
          </p:cNvPicPr>
          <p:nvPr/>
        </p:nvPicPr>
        <p:blipFill>
          <a:blip r:embed="rId5"/>
          <a:stretch>
            <a:fillRect/>
          </a:stretch>
        </p:blipFill>
        <p:spPr>
          <a:xfrm>
            <a:off x="466725" y="1466850"/>
            <a:ext cx="148679" cy="114300"/>
          </a:xfrm>
          <a:prstGeom prst="rect">
            <a:avLst/>
          </a:prstGeom>
        </p:spPr>
      </p:pic>
      <p:pic>
        <p:nvPicPr>
          <p:cNvPr id="27" name="Picture 26" descr="image.png"/>
          <p:cNvPicPr>
            <a:picLocks noChangeAspect="1"/>
          </p:cNvPicPr>
          <p:nvPr/>
        </p:nvPicPr>
        <p:blipFill>
          <a:blip r:embed="rId6"/>
          <a:stretch>
            <a:fillRect/>
          </a:stretch>
        </p:blipFill>
        <p:spPr>
          <a:xfrm>
            <a:off x="466725" y="5310187"/>
            <a:ext cx="114300" cy="114300"/>
          </a:xfrm>
          <a:prstGeom prst="rect">
            <a:avLst/>
          </a:prstGeom>
        </p:spPr>
      </p:pic>
      <p:pic>
        <p:nvPicPr>
          <p:cNvPr id="28" name="Picture 27" descr="image.png"/>
          <p:cNvPicPr>
            <a:picLocks noChangeAspect="1"/>
          </p:cNvPicPr>
          <p:nvPr/>
        </p:nvPicPr>
        <p:blipFill>
          <a:blip r:embed="rId7"/>
          <a:stretch>
            <a:fillRect/>
          </a:stretch>
        </p:blipFill>
        <p:spPr>
          <a:xfrm>
            <a:off x="7334250" y="1466850"/>
            <a:ext cx="120104" cy="114300"/>
          </a:xfrm>
          <a:prstGeom prst="rect">
            <a:avLst/>
          </a:prstGeom>
        </p:spPr>
      </p:pic>
      <p:sp>
        <p:nvSpPr>
          <p:cNvPr id="29" name="TextBox 28"/>
          <p:cNvSpPr txBox="1"/>
          <p:nvPr/>
        </p:nvSpPr>
        <p:spPr>
          <a:xfrm>
            <a:off x="571500" y="2266950"/>
            <a:ext cx="3368278" cy="152400"/>
          </a:xfrm>
          <a:prstGeom prst="rect">
            <a:avLst/>
          </a:prstGeom>
          <a:noFill/>
        </p:spPr>
        <p:txBody>
          <a:bodyPr wrap="square" lIns="0" tIns="0" rIns="0" bIns="0" anchor="t">
            <a:spAutoFit/>
          </a:bodyPr>
          <a:lstStyle/>
          <a:p>
            <a:pPr algn="l">
              <a:lnSpc>
                <a:spcPts val="1200"/>
              </a:lnSpc>
            </a:pPr>
            <a:r>
              <a:rPr sz="900" b="1" i="0" u="none">
                <a:solidFill>
                  <a:srgbClr val="0F172A"/>
                </a:solidFill>
                <a:latin typeface="Inter"/>
              </a:rPr>
              <a:t>Specified Purpose</a:t>
            </a:r>
          </a:p>
        </p:txBody>
      </p:sp>
      <p:sp>
        <p:nvSpPr>
          <p:cNvPr id="30" name="TextBox 29"/>
          <p:cNvSpPr txBox="1"/>
          <p:nvPr/>
        </p:nvSpPr>
        <p:spPr>
          <a:xfrm>
            <a:off x="571500" y="2438400"/>
            <a:ext cx="2928937" cy="304800"/>
          </a:xfrm>
          <a:prstGeom prst="rect">
            <a:avLst/>
          </a:prstGeom>
          <a:noFill/>
        </p:spPr>
        <p:txBody>
          <a:bodyPr wrap="square" lIns="0" tIns="0" rIns="0" bIns="0" anchor="t">
            <a:spAutoFit/>
          </a:bodyPr>
          <a:lstStyle/>
          <a:p>
            <a:pPr algn="l">
              <a:lnSpc>
                <a:spcPts val="1200"/>
              </a:lnSpc>
            </a:pPr>
            <a:r>
              <a:rPr sz="825" b="0" i="0" u="none">
                <a:solidFill>
                  <a:srgbClr val="475569"/>
                </a:solidFill>
                <a:latin typeface="Inter"/>
              </a:rPr>
              <a:t>Personal data may only be processed for transparent, declared objectives.</a:t>
            </a:r>
          </a:p>
        </p:txBody>
      </p:sp>
      <p:sp>
        <p:nvSpPr>
          <p:cNvPr id="31" name="TextBox 30"/>
          <p:cNvSpPr txBox="1"/>
          <p:nvPr/>
        </p:nvSpPr>
        <p:spPr>
          <a:xfrm>
            <a:off x="3786187" y="2266950"/>
            <a:ext cx="3368278" cy="152400"/>
          </a:xfrm>
          <a:prstGeom prst="rect">
            <a:avLst/>
          </a:prstGeom>
          <a:noFill/>
        </p:spPr>
        <p:txBody>
          <a:bodyPr wrap="square" lIns="0" tIns="0" rIns="0" bIns="0" anchor="t">
            <a:spAutoFit/>
          </a:bodyPr>
          <a:lstStyle/>
          <a:p>
            <a:pPr algn="l">
              <a:lnSpc>
                <a:spcPts val="1200"/>
              </a:lnSpc>
            </a:pPr>
            <a:r>
              <a:rPr sz="900" b="1" i="0" u="none">
                <a:solidFill>
                  <a:srgbClr val="0F172A"/>
                </a:solidFill>
                <a:latin typeface="Inter"/>
              </a:rPr>
              <a:t>Storage Limitation</a:t>
            </a:r>
          </a:p>
        </p:txBody>
      </p:sp>
      <p:sp>
        <p:nvSpPr>
          <p:cNvPr id="32" name="TextBox 31"/>
          <p:cNvSpPr txBox="1"/>
          <p:nvPr/>
        </p:nvSpPr>
        <p:spPr>
          <a:xfrm>
            <a:off x="3786187" y="2438400"/>
            <a:ext cx="2928937" cy="304800"/>
          </a:xfrm>
          <a:prstGeom prst="rect">
            <a:avLst/>
          </a:prstGeom>
          <a:noFill/>
        </p:spPr>
        <p:txBody>
          <a:bodyPr wrap="square" lIns="0" tIns="0" rIns="0" bIns="0" anchor="t">
            <a:spAutoFit/>
          </a:bodyPr>
          <a:lstStyle/>
          <a:p>
            <a:pPr algn="l">
              <a:lnSpc>
                <a:spcPts val="1200"/>
              </a:lnSpc>
            </a:pPr>
            <a:r>
              <a:rPr sz="825" b="0" i="0" u="none">
                <a:solidFill>
                  <a:srgbClr val="475569"/>
                </a:solidFill>
                <a:latin typeface="Inter"/>
              </a:rPr>
              <a:t>Data must not be retained once the processing rationale expires.</a:t>
            </a:r>
          </a:p>
        </p:txBody>
      </p:sp>
      <p:sp>
        <p:nvSpPr>
          <p:cNvPr id="33" name="TextBox 32"/>
          <p:cNvSpPr txBox="1"/>
          <p:nvPr/>
        </p:nvSpPr>
        <p:spPr>
          <a:xfrm>
            <a:off x="7629525" y="1885950"/>
            <a:ext cx="4562475" cy="152400"/>
          </a:xfrm>
          <a:prstGeom prst="rect">
            <a:avLst/>
          </a:prstGeom>
          <a:noFill/>
        </p:spPr>
        <p:txBody>
          <a:bodyPr wrap="square" lIns="0" tIns="0" rIns="0" bIns="0" anchor="ctr">
            <a:spAutoFit/>
          </a:bodyPr>
          <a:lstStyle/>
          <a:p>
            <a:pPr algn="l">
              <a:lnSpc>
                <a:spcPts val="1200"/>
              </a:lnSpc>
            </a:pPr>
            <a:r>
              <a:rPr sz="900" b="1" i="0" u="none">
                <a:solidFill>
                  <a:srgbClr val="1D4ED8"/>
                </a:solidFill>
                <a:latin typeface="Inter"/>
              </a:rPr>
              <a:t>System Scope (Privexis)</a:t>
            </a:r>
          </a:p>
        </p:txBody>
      </p:sp>
      <p:sp>
        <p:nvSpPr>
          <p:cNvPr id="34" name="TextBox 33"/>
          <p:cNvSpPr txBox="1"/>
          <p:nvPr/>
        </p:nvSpPr>
        <p:spPr>
          <a:xfrm>
            <a:off x="7458075" y="2076450"/>
            <a:ext cx="4143375" cy="340518"/>
          </a:xfrm>
          <a:prstGeom prst="rect">
            <a:avLst/>
          </a:prstGeom>
          <a:noFill/>
        </p:spPr>
        <p:txBody>
          <a:bodyPr wrap="square" lIns="0" tIns="0" rIns="0" bIns="0" anchor="t">
            <a:spAutoFit/>
          </a:bodyPr>
          <a:lstStyle/>
          <a:p>
            <a:pPr algn="l">
              <a:lnSpc>
                <a:spcPts val="1340"/>
              </a:lnSpc>
            </a:pPr>
            <a:r>
              <a:rPr sz="825" b="0" i="0" u="none">
                <a:solidFill>
                  <a:srgbClr val="475569"/>
                </a:solidFill>
                <a:latin typeface="Inter"/>
              </a:rPr>
              <a:t>Produces reproducible technical evidence: detected candidate data classes, syntax matches, validation checks, and metadata gap flags.</a:t>
            </a:r>
          </a:p>
        </p:txBody>
      </p:sp>
      <p:sp>
        <p:nvSpPr>
          <p:cNvPr id="35" name="TextBox 34"/>
          <p:cNvSpPr txBox="1"/>
          <p:nvPr/>
        </p:nvSpPr>
        <p:spPr>
          <a:xfrm>
            <a:off x="7620000" y="2759868"/>
            <a:ext cx="4572000" cy="152400"/>
          </a:xfrm>
          <a:prstGeom prst="rect">
            <a:avLst/>
          </a:prstGeom>
          <a:noFill/>
        </p:spPr>
        <p:txBody>
          <a:bodyPr wrap="square" lIns="0" tIns="0" rIns="0" bIns="0" anchor="ctr">
            <a:spAutoFit/>
          </a:bodyPr>
          <a:lstStyle/>
          <a:p>
            <a:pPr algn="l">
              <a:lnSpc>
                <a:spcPts val="1200"/>
              </a:lnSpc>
            </a:pPr>
            <a:r>
              <a:rPr sz="900" b="1" i="0" u="none">
                <a:solidFill>
                  <a:srgbClr val="334155"/>
                </a:solidFill>
                <a:latin typeface="Inter"/>
              </a:rPr>
              <a:t>Human Reviewer Scope</a:t>
            </a:r>
          </a:p>
        </p:txBody>
      </p:sp>
      <p:sp>
        <p:nvSpPr>
          <p:cNvPr id="36" name="TextBox 35"/>
          <p:cNvSpPr txBox="1"/>
          <p:nvPr/>
        </p:nvSpPr>
        <p:spPr>
          <a:xfrm>
            <a:off x="7458075" y="2950368"/>
            <a:ext cx="4143375" cy="340518"/>
          </a:xfrm>
          <a:prstGeom prst="rect">
            <a:avLst/>
          </a:prstGeom>
          <a:noFill/>
        </p:spPr>
        <p:txBody>
          <a:bodyPr wrap="square" lIns="0" tIns="0" rIns="0" bIns="0" anchor="t">
            <a:spAutoFit/>
          </a:bodyPr>
          <a:lstStyle/>
          <a:p>
            <a:pPr algn="l">
              <a:lnSpc>
                <a:spcPts val="1340"/>
              </a:lnSpc>
            </a:pPr>
            <a:r>
              <a:rPr sz="825" b="0" i="0" u="none">
                <a:solidFill>
                  <a:srgbClr val="475569"/>
                </a:solidFill>
                <a:latin typeface="Inter"/>
              </a:rPr>
              <a:t>Reviews evidence inventory, validates false positives, decides lawful-basis determinations, and authorizes remediation workflows.</a:t>
            </a:r>
          </a:p>
        </p:txBody>
      </p:sp>
      <p:pic>
        <p:nvPicPr>
          <p:cNvPr id="37" name="Picture 36" descr="image.png"/>
          <p:cNvPicPr>
            <a:picLocks noChangeAspect="1"/>
          </p:cNvPicPr>
          <p:nvPr/>
        </p:nvPicPr>
        <p:blipFill>
          <a:blip r:embed="rId8"/>
          <a:stretch>
            <a:fillRect/>
          </a:stretch>
        </p:blipFill>
        <p:spPr>
          <a:xfrm>
            <a:off x="7458075" y="1885950"/>
            <a:ext cx="114300" cy="152400"/>
          </a:xfrm>
          <a:prstGeom prst="rect">
            <a:avLst/>
          </a:prstGeom>
        </p:spPr>
      </p:pic>
      <p:pic>
        <p:nvPicPr>
          <p:cNvPr id="38" name="Picture 37" descr="image.png"/>
          <p:cNvPicPr>
            <a:picLocks noChangeAspect="1"/>
          </p:cNvPicPr>
          <p:nvPr/>
        </p:nvPicPr>
        <p:blipFill>
          <a:blip r:embed="rId9"/>
          <a:stretch>
            <a:fillRect/>
          </a:stretch>
        </p:blipFill>
        <p:spPr>
          <a:xfrm>
            <a:off x="7458075" y="2759868"/>
            <a:ext cx="104775" cy="152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04800" y="5953125"/>
            <a:ext cx="11582400" cy="361950"/>
          </a:xfrm>
          <a:prstGeom prst="roundRect">
            <a:avLst>
              <a:gd name="adj" fmla="val 21052"/>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04800" y="1866900"/>
            <a:ext cx="11582400" cy="3390900"/>
          </a:xfrm>
          <a:prstGeom prst="roundRect">
            <a:avLst>
              <a:gd name="adj" fmla="val 337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515302" y="304800"/>
            <a:ext cx="1577682"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Technical Foundation</a:t>
            </a:r>
          </a:p>
        </p:txBody>
      </p:sp>
      <p:sp>
        <p:nvSpPr>
          <p:cNvPr id="6" name="TextBox 5"/>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Literature &amp; RFC Review</a:t>
            </a:r>
          </a:p>
        </p:txBody>
      </p:sp>
      <p:sp>
        <p:nvSpPr>
          <p:cNvPr id="7" name="TextBox 6"/>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Standards and tools our design builds on.</a:t>
            </a:r>
          </a:p>
        </p:txBody>
      </p:sp>
      <p:sp>
        <p:nvSpPr>
          <p:cNvPr id="8" name="TextBox 7"/>
          <p:cNvSpPr txBox="1"/>
          <p:nvPr/>
        </p:nvSpPr>
        <p:spPr>
          <a:xfrm>
            <a:off x="10147548" y="6057900"/>
            <a:ext cx="1880108" cy="152400"/>
          </a:xfrm>
          <a:prstGeom prst="rect">
            <a:avLst/>
          </a:prstGeom>
          <a:noFill/>
        </p:spPr>
        <p:txBody>
          <a:bodyPr wrap="square" lIns="0" tIns="0" rIns="0" bIns="0" anchor="t">
            <a:spAutoFit/>
          </a:bodyPr>
          <a:lstStyle/>
          <a:p>
            <a:pPr algn="l">
              <a:lnSpc>
                <a:spcPts val="1200"/>
              </a:lnSpc>
            </a:pPr>
            <a:r>
              <a:rPr sz="825" b="0" i="0" u="none">
                <a:solidFill>
                  <a:srgbClr val="64748B"/>
                </a:solidFill>
                <a:latin typeface="ui-monospace"/>
              </a:rPr>
              <a:t>Peer &amp; Statutory Standards</a:t>
            </a:r>
          </a:p>
        </p:txBody>
      </p:sp>
      <p:sp>
        <p:nvSpPr>
          <p:cNvPr id="9" name="TextBox 8"/>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10" name="TextBox 9"/>
          <p:cNvSpPr txBox="1"/>
          <p:nvPr/>
        </p:nvSpPr>
        <p:spPr>
          <a:xfrm>
            <a:off x="11610975" y="6400800"/>
            <a:ext cx="317658"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4 / 11</a:t>
            </a:r>
          </a:p>
        </p:txBody>
      </p:sp>
      <p:sp>
        <p:nvSpPr>
          <p:cNvPr id="11" name="TextBox 10"/>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12" name="TextBox 11"/>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13" name="TextBox 12"/>
          <p:cNvSpPr txBox="1"/>
          <p:nvPr/>
        </p:nvSpPr>
        <p:spPr>
          <a:xfrm>
            <a:off x="944909" y="304800"/>
            <a:ext cx="1522571"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Literature &amp; RFC Review</a:t>
            </a:r>
          </a:p>
        </p:txBody>
      </p:sp>
      <p:graphicFrame>
        <p:nvGraphicFramePr>
          <p:cNvPr id="14" name="Table 13"/>
          <p:cNvGraphicFramePr>
            <a:graphicFrameLocks noGrp="1"/>
          </p:cNvGraphicFramePr>
          <p:nvPr/>
        </p:nvGraphicFramePr>
        <p:xfrm>
          <a:off x="314325" y="1876425"/>
          <a:ext cx="11563348" cy="3371850"/>
        </p:xfrm>
        <a:graphic>
          <a:graphicData uri="http://schemas.openxmlformats.org/drawingml/2006/table">
            <a:tbl>
              <a:tblPr/>
              <a:tblGrid>
                <a:gridCol w="2890837">
                  <a:extLst>
                    <a:ext uri="{9D8B030D-6E8A-4147-A177-3AD203B41FA5}">
                      <a16:colId xmlns:a16="http://schemas.microsoft.com/office/drawing/2014/main" val="20000"/>
                    </a:ext>
                  </a:extLst>
                </a:gridCol>
                <a:gridCol w="1927175">
                  <a:extLst>
                    <a:ext uri="{9D8B030D-6E8A-4147-A177-3AD203B41FA5}">
                      <a16:colId xmlns:a16="http://schemas.microsoft.com/office/drawing/2014/main" val="20001"/>
                    </a:ext>
                  </a:extLst>
                </a:gridCol>
                <a:gridCol w="3854350">
                  <a:extLst>
                    <a:ext uri="{9D8B030D-6E8A-4147-A177-3AD203B41FA5}">
                      <a16:colId xmlns:a16="http://schemas.microsoft.com/office/drawing/2014/main" val="20002"/>
                    </a:ext>
                  </a:extLst>
                </a:gridCol>
                <a:gridCol w="2890986">
                  <a:extLst>
                    <a:ext uri="{9D8B030D-6E8A-4147-A177-3AD203B41FA5}">
                      <a16:colId xmlns:a16="http://schemas.microsoft.com/office/drawing/2014/main" val="20003"/>
                    </a:ext>
                  </a:extLst>
                </a:gridCol>
              </a:tblGrid>
              <a:tr h="481692">
                <a:tc>
                  <a:txBody>
                    <a:bodyPr/>
                    <a:lstStyle/>
                    <a:p>
                      <a:pPr algn="l"/>
                      <a:r>
                        <a:rPr sz="825" b="1" i="0" u="none" spc="41">
                          <a:solidFill>
                            <a:srgbClr val="FFFFFF"/>
                          </a:solidFill>
                          <a:latin typeface="Inter"/>
                        </a:rPr>
                        <a:t>Reference Standard</a:t>
                      </a:r>
                    </a:p>
                  </a:txBody>
                  <a:tcPr marL="63500" marR="63500" marT="25400" marB="25400" anchor="ctr">
                    <a:lnL>
                      <a:noFill/>
                    </a:lnL>
                    <a:lnR>
                      <a:noFill/>
                    </a:lnR>
                    <a:lnT>
                      <a:noFill/>
                    </a:lnT>
                    <a:lnB>
                      <a:noFill/>
                    </a:lnB>
                    <a:solidFill>
                      <a:srgbClr val="1D4ED8"/>
                    </a:solidFill>
                  </a:tcPr>
                </a:tc>
                <a:tc>
                  <a:txBody>
                    <a:bodyPr/>
                    <a:lstStyle/>
                    <a:p>
                      <a:pPr algn="l"/>
                      <a:r>
                        <a:rPr sz="825" b="1" i="0" u="none" spc="41">
                          <a:solidFill>
                            <a:srgbClr val="FFFFFF"/>
                          </a:solidFill>
                          <a:latin typeface="Inter"/>
                        </a:rPr>
                        <a:t>Technical Domain</a:t>
                      </a:r>
                    </a:p>
                  </a:txBody>
                  <a:tcPr marL="63500" marR="63500" marT="25400" marB="25400" anchor="ctr">
                    <a:lnL>
                      <a:noFill/>
                    </a:lnL>
                    <a:lnR>
                      <a:noFill/>
                    </a:lnR>
                    <a:lnT>
                      <a:noFill/>
                    </a:lnT>
                    <a:lnB>
                      <a:noFill/>
                    </a:lnB>
                    <a:solidFill>
                      <a:srgbClr val="1D4ED8"/>
                    </a:solidFill>
                  </a:tcPr>
                </a:tc>
                <a:tc>
                  <a:txBody>
                    <a:bodyPr/>
                    <a:lstStyle/>
                    <a:p>
                      <a:pPr algn="l"/>
                      <a:r>
                        <a:rPr sz="825" b="1" i="0" u="none" spc="41">
                          <a:solidFill>
                            <a:srgbClr val="FFFFFF"/>
                          </a:solidFill>
                          <a:latin typeface="Inter"/>
                        </a:rPr>
                        <a:t>Core Principle / Capability</a:t>
                      </a:r>
                    </a:p>
                  </a:txBody>
                  <a:tcPr marL="63500" marR="63500" marT="25400" marB="25400" anchor="ctr">
                    <a:lnL>
                      <a:noFill/>
                    </a:lnL>
                    <a:lnR>
                      <a:noFill/>
                    </a:lnR>
                    <a:lnT>
                      <a:noFill/>
                    </a:lnT>
                    <a:lnB>
                      <a:noFill/>
                    </a:lnB>
                    <a:solidFill>
                      <a:srgbClr val="1D4ED8"/>
                    </a:solidFill>
                  </a:tcPr>
                </a:tc>
                <a:tc>
                  <a:txBody>
                    <a:bodyPr/>
                    <a:lstStyle/>
                    <a:p>
                      <a:pPr algn="l"/>
                      <a:r>
                        <a:rPr sz="825" b="1" i="0" u="none" spc="41">
                          <a:solidFill>
                            <a:srgbClr val="FFFFFF"/>
                          </a:solidFill>
                          <a:latin typeface="Inter"/>
                        </a:rPr>
                        <a:t>How Privexis Implements It</a:t>
                      </a:r>
                    </a:p>
                  </a:txBody>
                  <a:tcPr marL="63500" marR="63500" marT="25400" marB="25400" anchor="ctr">
                    <a:lnL>
                      <a:noFill/>
                    </a:lnL>
                    <a:lnR>
                      <a:noFill/>
                    </a:lnR>
                    <a:lnT>
                      <a:noFill/>
                    </a:lnT>
                    <a:lnB>
                      <a:noFill/>
                    </a:lnB>
                    <a:solidFill>
                      <a:srgbClr val="1D4ED8"/>
                    </a:solidFill>
                  </a:tcPr>
                </a:tc>
                <a:extLst>
                  <a:ext uri="{0D108BD9-81ED-4DB2-BD59-A6C34878D82A}">
                    <a16:rowId xmlns:a16="http://schemas.microsoft.com/office/drawing/2014/main" val="10000"/>
                  </a:ext>
                </a:extLst>
              </a:tr>
              <a:tr h="481692">
                <a:tc>
                  <a:txBody>
                    <a:bodyPr/>
                    <a:lstStyle/>
                    <a:p>
                      <a:pPr algn="l"/>
                      <a:r>
                        <a:rPr sz="900" b="1" i="0" u="none">
                          <a:solidFill>
                            <a:srgbClr val="0F172A"/>
                          </a:solidFill>
                          <a:latin typeface="Inter"/>
                        </a:rPr>
                        <a:t>DPDP Act, 2023 [1]</a:t>
                      </a:r>
                    </a:p>
                  </a:txBody>
                  <a:tcPr marL="63500" marR="63500" marT="25400" marB="25400" anchor="ctr">
                    <a:lnL>
                      <a:noFill/>
                    </a:lnL>
                    <a:lnR>
                      <a:noFill/>
                    </a:lnR>
                    <a:lnT>
                      <a:noFill/>
                    </a:lnT>
                    <a:lnB>
                      <a:noFill/>
                    </a:lnB>
                    <a:noFill/>
                  </a:tcPr>
                </a:tc>
                <a:tc>
                  <a:txBody>
                    <a:bodyPr/>
                    <a:lstStyle/>
                    <a:p>
                      <a:pPr algn="l"/>
                      <a:r>
                        <a:rPr sz="900" b="1" i="0" u="none">
                          <a:solidFill>
                            <a:srgbClr val="1D4ED8"/>
                          </a:solidFill>
                          <a:latin typeface="Inter"/>
                        </a:rPr>
                        <a:t>Statutory Framework</a:t>
                      </a:r>
                    </a:p>
                  </a:txBody>
                  <a:tcPr marL="63500" marR="63500" marT="25400" marB="25400" anchor="ctr">
                    <a:lnL>
                      <a:noFill/>
                    </a:lnL>
                    <a:lnR>
                      <a:noFill/>
                    </a:lnR>
                    <a:lnT>
                      <a:noFill/>
                    </a:lnT>
                    <a:lnB>
                      <a:noFill/>
                    </a:lnB>
                    <a:noFill/>
                  </a:tcPr>
                </a:tc>
                <a:tc>
                  <a:txBody>
                    <a:bodyPr/>
                    <a:lstStyle/>
                    <a:p>
                      <a:pPr algn="l"/>
                      <a:r>
                        <a:rPr sz="900" b="0" i="0" u="none">
                          <a:solidFill>
                            <a:srgbClr val="334155"/>
                          </a:solidFill>
                          <a:latin typeface="Inter"/>
                        </a:rPr>
                        <a:t>Mandates purpose specification and storage limitation upon objective completion.</a:t>
                      </a:r>
                    </a:p>
                  </a:txBody>
                  <a:tcPr marL="63500" marR="63500" marT="25400" marB="25400" anchor="ctr">
                    <a:lnL>
                      <a:noFill/>
                    </a:lnL>
                    <a:lnR>
                      <a:noFill/>
                    </a:lnR>
                    <a:lnT>
                      <a:noFill/>
                    </a:lnT>
                    <a:lnB>
                      <a:noFill/>
                    </a:lnB>
                    <a:noFill/>
                  </a:tcPr>
                </a:tc>
                <a:tc>
                  <a:txBody>
                    <a:bodyPr/>
                    <a:lstStyle/>
                    <a:p>
                      <a:pPr algn="l"/>
                      <a:r>
                        <a:rPr sz="900" b="0" i="0" u="none">
                          <a:solidFill>
                            <a:srgbClr val="1E293B"/>
                          </a:solidFill>
                          <a:latin typeface="Inter"/>
                        </a:rPr>
                        <a:t>Defines purpose and retention metadata fields in inventory.</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481692">
                <a:tc>
                  <a:txBody>
                    <a:bodyPr/>
                    <a:lstStyle/>
                    <a:p>
                      <a:pPr algn="l"/>
                      <a:r>
                        <a:rPr sz="900" b="1" i="0" u="none">
                          <a:solidFill>
                            <a:srgbClr val="0F172A"/>
                          </a:solidFill>
                          <a:latin typeface="Inter"/>
                        </a:rPr>
                        <a:t>Verhoeff Checksum [2]</a:t>
                      </a:r>
                    </a:p>
                  </a:txBody>
                  <a:tcPr marL="63500" marR="63500" marT="25400" marB="25400" anchor="ctr">
                    <a:lnL>
                      <a:noFill/>
                    </a:lnL>
                    <a:lnR>
                      <a:noFill/>
                    </a:lnR>
                    <a:lnT>
                      <a:noFill/>
                    </a:lnT>
                    <a:lnB>
                      <a:noFill/>
                    </a:lnB>
                    <a:noFill/>
                  </a:tcPr>
                </a:tc>
                <a:tc>
                  <a:txBody>
                    <a:bodyPr/>
                    <a:lstStyle/>
                    <a:p>
                      <a:pPr algn="l"/>
                      <a:r>
                        <a:rPr sz="900" b="1" i="0" u="none">
                          <a:solidFill>
                            <a:srgbClr val="1D4ED8"/>
                          </a:solidFill>
                          <a:latin typeface="Inter"/>
                        </a:rPr>
                        <a:t>Dihedral Group D5</a:t>
                      </a:r>
                    </a:p>
                  </a:txBody>
                  <a:tcPr marL="63500" marR="63500" marT="25400" marB="25400" anchor="ctr">
                    <a:lnL>
                      <a:noFill/>
                    </a:lnL>
                    <a:lnR>
                      <a:noFill/>
                    </a:lnR>
                    <a:lnT>
                      <a:noFill/>
                    </a:lnT>
                    <a:lnB>
                      <a:noFill/>
                    </a:lnB>
                    <a:noFill/>
                  </a:tcPr>
                </a:tc>
                <a:tc>
                  <a:txBody>
                    <a:bodyPr/>
                    <a:lstStyle/>
                    <a:p>
                      <a:pPr algn="l"/>
                      <a:r>
                        <a:rPr sz="900" b="0" i="0" u="none">
                          <a:solidFill>
                            <a:srgbClr val="334155"/>
                          </a:solidFill>
                          <a:latin typeface="Inter"/>
                        </a:rPr>
                        <a:t>Detects all single-digit errors and all adjacent transposition errors.</a:t>
                      </a:r>
                    </a:p>
                  </a:txBody>
                  <a:tcPr marL="63500" marR="63500" marT="25400" marB="25400" anchor="ctr">
                    <a:lnL>
                      <a:noFill/>
                    </a:lnL>
                    <a:lnR>
                      <a:noFill/>
                    </a:lnR>
                    <a:lnT>
                      <a:noFill/>
                    </a:lnT>
                    <a:lnB>
                      <a:noFill/>
                    </a:lnB>
                    <a:noFill/>
                  </a:tcPr>
                </a:tc>
                <a:tc>
                  <a:txBody>
                    <a:bodyPr/>
                    <a:lstStyle/>
                    <a:p>
                      <a:pPr algn="l"/>
                      <a:r>
                        <a:rPr sz="900" b="0" i="0" u="none">
                          <a:solidFill>
                            <a:srgbClr val="1E293B"/>
                          </a:solidFill>
                          <a:latin typeface="Inter"/>
                        </a:rPr>
                        <a:t>Validates 12-digit Aadhaar-style synthetic numbers.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481692">
                <a:tc>
                  <a:txBody>
                    <a:bodyPr/>
                    <a:lstStyle/>
                    <a:p>
                      <a:pPr algn="l"/>
                      <a:r>
                        <a:rPr sz="900" b="1" i="0" u="none">
                          <a:solidFill>
                            <a:srgbClr val="0F172A"/>
                          </a:solidFill>
                          <a:latin typeface="Inter"/>
                        </a:rPr>
                        <a:t>RFC 5322 [3]</a:t>
                      </a:r>
                    </a:p>
                  </a:txBody>
                  <a:tcPr marL="63500" marR="63500" marT="25400" marB="25400" anchor="ctr">
                    <a:lnL>
                      <a:noFill/>
                    </a:lnL>
                    <a:lnR>
                      <a:noFill/>
                    </a:lnR>
                    <a:lnT>
                      <a:noFill/>
                    </a:lnT>
                    <a:lnB>
                      <a:noFill/>
                    </a:lnB>
                    <a:noFill/>
                  </a:tcPr>
                </a:tc>
                <a:tc>
                  <a:txBody>
                    <a:bodyPr/>
                    <a:lstStyle/>
                    <a:p>
                      <a:pPr algn="l"/>
                      <a:r>
                        <a:rPr sz="900" b="1" i="0" u="none">
                          <a:solidFill>
                            <a:srgbClr val="1D4ED8"/>
                          </a:solidFill>
                          <a:latin typeface="Inter"/>
                        </a:rPr>
                        <a:t>Internet Syntax</a:t>
                      </a:r>
                    </a:p>
                  </a:txBody>
                  <a:tcPr marL="63500" marR="63500" marT="25400" marB="25400" anchor="ctr">
                    <a:lnL>
                      <a:noFill/>
                    </a:lnL>
                    <a:lnR>
                      <a:noFill/>
                    </a:lnR>
                    <a:lnT>
                      <a:noFill/>
                    </a:lnT>
                    <a:lnB>
                      <a:noFill/>
                    </a:lnB>
                    <a:noFill/>
                  </a:tcPr>
                </a:tc>
                <a:tc>
                  <a:txBody>
                    <a:bodyPr/>
                    <a:lstStyle/>
                    <a:p>
                      <a:pPr algn="l"/>
                      <a:r>
                        <a:rPr sz="900" b="0" i="0" u="none">
                          <a:solidFill>
                            <a:srgbClr val="334155"/>
                          </a:solidFill>
                          <a:latin typeface="Inter"/>
                        </a:rPr>
                        <a:t>Defines standard syntax grammar for Internet email message addr-spec.</a:t>
                      </a:r>
                    </a:p>
                  </a:txBody>
                  <a:tcPr marL="63500" marR="63500" marT="25400" marB="25400" anchor="ctr">
                    <a:lnL>
                      <a:noFill/>
                    </a:lnL>
                    <a:lnR>
                      <a:noFill/>
                    </a:lnR>
                    <a:lnT>
                      <a:noFill/>
                    </a:lnT>
                    <a:lnB>
                      <a:noFill/>
                    </a:lnB>
                    <a:noFill/>
                  </a:tcPr>
                </a:tc>
                <a:tc>
                  <a:txBody>
                    <a:bodyPr/>
                    <a:lstStyle/>
                    <a:p>
                      <a:pPr algn="l"/>
                      <a:r>
                        <a:rPr sz="900" b="0" i="0" u="none">
                          <a:solidFill>
                            <a:srgbClr val="1E293B"/>
                          </a:solidFill>
                          <a:latin typeface="Inter"/>
                        </a:rPr>
                        <a:t>Syntactic regex baseline for the email detection rule.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3"/>
                  </a:ext>
                </a:extLst>
              </a:tr>
              <a:tr h="481692">
                <a:tc>
                  <a:txBody>
                    <a:bodyPr/>
                    <a:lstStyle/>
                    <a:p>
                      <a:pPr algn="l"/>
                      <a:r>
                        <a:rPr sz="900" b="1" i="0" u="none">
                          <a:solidFill>
                            <a:srgbClr val="0F172A"/>
                          </a:solidFill>
                          <a:latin typeface="Inter"/>
                        </a:rPr>
                        <a:t>Microsoft Presidio [4]</a:t>
                      </a:r>
                    </a:p>
                  </a:txBody>
                  <a:tcPr marL="63500" marR="63500" marT="25400" marB="25400" anchor="ctr">
                    <a:lnL>
                      <a:noFill/>
                    </a:lnL>
                    <a:lnR>
                      <a:noFill/>
                    </a:lnR>
                    <a:lnT>
                      <a:noFill/>
                    </a:lnT>
                    <a:lnB>
                      <a:noFill/>
                    </a:lnB>
                    <a:noFill/>
                  </a:tcPr>
                </a:tc>
                <a:tc>
                  <a:txBody>
                    <a:bodyPr/>
                    <a:lstStyle/>
                    <a:p>
                      <a:pPr algn="l"/>
                      <a:r>
                        <a:rPr sz="900" b="1" i="0" u="none">
                          <a:solidFill>
                            <a:srgbClr val="1D4ED8"/>
                          </a:solidFill>
                          <a:latin typeface="Inter"/>
                        </a:rPr>
                        <a:t>Discovery Framework</a:t>
                      </a:r>
                    </a:p>
                  </a:txBody>
                  <a:tcPr marL="63500" marR="63500" marT="25400" marB="25400" anchor="ctr">
                    <a:lnL>
                      <a:noFill/>
                    </a:lnL>
                    <a:lnR>
                      <a:noFill/>
                    </a:lnR>
                    <a:lnT>
                      <a:noFill/>
                    </a:lnT>
                    <a:lnB>
                      <a:noFill/>
                    </a:lnB>
                    <a:noFill/>
                  </a:tcPr>
                </a:tc>
                <a:tc>
                  <a:txBody>
                    <a:bodyPr/>
                    <a:lstStyle/>
                    <a:p>
                      <a:pPr algn="l"/>
                      <a:r>
                        <a:rPr sz="900" b="0" i="0" u="none">
                          <a:solidFill>
                            <a:srgbClr val="334155"/>
                          </a:solidFill>
                          <a:latin typeface="Inter"/>
                        </a:rPr>
                        <a:t>Pattern recognizers and NER context enhancers for free-form text.</a:t>
                      </a:r>
                    </a:p>
                  </a:txBody>
                  <a:tcPr marL="63500" marR="63500" marT="25400" marB="25400" anchor="ctr">
                    <a:lnL>
                      <a:noFill/>
                    </a:lnL>
                    <a:lnR>
                      <a:noFill/>
                    </a:lnR>
                    <a:lnT>
                      <a:noFill/>
                    </a:lnT>
                    <a:lnB>
                      <a:noFill/>
                    </a:lnB>
                    <a:noFill/>
                  </a:tcPr>
                </a:tc>
                <a:tc>
                  <a:txBody>
                    <a:bodyPr/>
                    <a:lstStyle/>
                    <a:p>
                      <a:pPr algn="l"/>
                      <a:r>
                        <a:rPr sz="900" b="0" i="0" u="none">
                          <a:solidFill>
                            <a:srgbClr val="1E293B"/>
                          </a:solidFill>
                          <a:latin typeface="Inter"/>
                        </a:rPr>
                        <a:t>Pattern + NER detection idea; we add metadata linking &amp; gap reports.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4"/>
                  </a:ext>
                </a:extLst>
              </a:tr>
              <a:tr h="481692">
                <a:tc>
                  <a:txBody>
                    <a:bodyPr/>
                    <a:lstStyle/>
                    <a:p>
                      <a:pPr algn="l"/>
                      <a:r>
                        <a:rPr sz="900" b="1" i="0" u="none">
                          <a:solidFill>
                            <a:srgbClr val="0F172A"/>
                          </a:solidFill>
                          <a:latin typeface="Inter"/>
                        </a:rPr>
                        <a:t>spaCy NER [5]</a:t>
                      </a:r>
                    </a:p>
                  </a:txBody>
                  <a:tcPr marL="63500" marR="63500" marT="25400" marB="25400" anchor="ctr">
                    <a:lnL>
                      <a:noFill/>
                    </a:lnL>
                    <a:lnR>
                      <a:noFill/>
                    </a:lnR>
                    <a:lnT>
                      <a:noFill/>
                    </a:lnT>
                    <a:lnB>
                      <a:noFill/>
                    </a:lnB>
                    <a:noFill/>
                  </a:tcPr>
                </a:tc>
                <a:tc>
                  <a:txBody>
                    <a:bodyPr/>
                    <a:lstStyle/>
                    <a:p>
                      <a:pPr algn="l"/>
                      <a:r>
                        <a:rPr sz="900" b="1" i="0" u="none">
                          <a:solidFill>
                            <a:srgbClr val="1D4ED8"/>
                          </a:solidFill>
                          <a:latin typeface="Inter"/>
                        </a:rPr>
                        <a:t>Statistical NLP</a:t>
                      </a:r>
                    </a:p>
                  </a:txBody>
                  <a:tcPr marL="63500" marR="63500" marT="25400" marB="25400" anchor="ctr">
                    <a:lnL>
                      <a:noFill/>
                    </a:lnL>
                    <a:lnR>
                      <a:noFill/>
                    </a:lnR>
                    <a:lnT>
                      <a:noFill/>
                    </a:lnT>
                    <a:lnB>
                      <a:noFill/>
                    </a:lnB>
                    <a:noFill/>
                  </a:tcPr>
                </a:tc>
                <a:tc>
                  <a:txBody>
                    <a:bodyPr/>
                    <a:lstStyle/>
                    <a:p>
                      <a:pPr algn="l"/>
                      <a:r>
                        <a:rPr sz="900" b="0" i="0" u="none">
                          <a:solidFill>
                            <a:srgbClr val="334155"/>
                          </a:solidFill>
                          <a:latin typeface="Inter"/>
                        </a:rPr>
                        <a:t>Industrial-strength named entity recognition models.</a:t>
                      </a:r>
                    </a:p>
                  </a:txBody>
                  <a:tcPr marL="63500" marR="63500" marT="25400" marB="25400" anchor="ctr">
                    <a:lnL>
                      <a:noFill/>
                    </a:lnL>
                    <a:lnR>
                      <a:noFill/>
                    </a:lnR>
                    <a:lnT>
                      <a:noFill/>
                    </a:lnT>
                    <a:lnB>
                      <a:noFill/>
                    </a:lnB>
                    <a:noFill/>
                  </a:tcPr>
                </a:tc>
                <a:tc>
                  <a:txBody>
                    <a:bodyPr/>
                    <a:lstStyle/>
                    <a:p>
                      <a:pPr algn="l"/>
                      <a:r>
                        <a:rPr sz="900" b="0" i="0" u="none">
                          <a:solidFill>
                            <a:srgbClr val="1E293B"/>
                          </a:solidFill>
                          <a:latin typeface="Inter"/>
                        </a:rPr>
                        <a:t>Optional PERSON detection for candidate name columns.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5"/>
                  </a:ext>
                </a:extLst>
              </a:tr>
              <a:tr h="481698">
                <a:tc>
                  <a:txBody>
                    <a:bodyPr/>
                    <a:lstStyle/>
                    <a:p>
                      <a:pPr algn="l"/>
                      <a:r>
                        <a:rPr sz="900" b="1" i="0" u="none">
                          <a:solidFill>
                            <a:srgbClr val="0F172A"/>
                          </a:solidFill>
                          <a:latin typeface="Inter"/>
                        </a:rPr>
                        <a:t>Netwrix PII Guide [6]</a:t>
                      </a:r>
                    </a:p>
                  </a:txBody>
                  <a:tcPr marL="63500" marR="63500" marT="25400" marB="25400" anchor="ctr">
                    <a:lnL>
                      <a:noFill/>
                    </a:lnL>
                    <a:lnR>
                      <a:noFill/>
                    </a:lnR>
                    <a:lnT>
                      <a:noFill/>
                    </a:lnT>
                    <a:lnB>
                      <a:noFill/>
                    </a:lnB>
                    <a:noFill/>
                  </a:tcPr>
                </a:tc>
                <a:tc>
                  <a:txBody>
                    <a:bodyPr/>
                    <a:lstStyle/>
                    <a:p>
                      <a:pPr algn="l"/>
                      <a:r>
                        <a:rPr sz="900" b="1" i="0" u="none">
                          <a:solidFill>
                            <a:srgbClr val="1D4ED8"/>
                          </a:solidFill>
                          <a:latin typeface="Inter"/>
                        </a:rPr>
                        <a:t>Security Taxonomy</a:t>
                      </a:r>
                    </a:p>
                  </a:txBody>
                  <a:tcPr marL="63500" marR="63500" marT="25400" marB="25400" anchor="ctr">
                    <a:lnL>
                      <a:noFill/>
                    </a:lnL>
                    <a:lnR>
                      <a:noFill/>
                    </a:lnR>
                    <a:lnT>
                      <a:noFill/>
                    </a:lnT>
                    <a:lnB>
                      <a:noFill/>
                    </a:lnB>
                    <a:noFill/>
                  </a:tcPr>
                </a:tc>
                <a:tc>
                  <a:txBody>
                    <a:bodyPr/>
                    <a:lstStyle/>
                    <a:p>
                      <a:pPr algn="l"/>
                      <a:r>
                        <a:rPr sz="900" b="0" i="0" u="none">
                          <a:solidFill>
                            <a:srgbClr val="334155"/>
                          </a:solidFill>
                          <a:latin typeface="Inter"/>
                        </a:rPr>
                        <a:t>Taxonomy of rule-based vs machine learning data discovery techniques.</a:t>
                      </a:r>
                    </a:p>
                  </a:txBody>
                  <a:tcPr marL="63500" marR="63500" marT="25400" marB="25400" anchor="ctr">
                    <a:lnL>
                      <a:noFill/>
                    </a:lnL>
                    <a:lnR>
                      <a:noFill/>
                    </a:lnR>
                    <a:lnT>
                      <a:noFill/>
                    </a:lnT>
                    <a:lnB>
                      <a:noFill/>
                    </a:lnB>
                    <a:noFill/>
                  </a:tcPr>
                </a:tc>
                <a:tc>
                  <a:txBody>
                    <a:bodyPr/>
                    <a:lstStyle/>
                    <a:p>
                      <a:pPr algn="l"/>
                      <a:r>
                        <a:rPr sz="900" b="0" i="0" u="none">
                          <a:solidFill>
                            <a:srgbClr val="1E293B"/>
                          </a:solidFill>
                          <a:latin typeface="Inter"/>
                        </a:rPr>
                        <a:t>Overview of rule-based and ML detection trade-offs.</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6"/>
                  </a:ext>
                </a:extLst>
              </a:tr>
            </a:tbl>
          </a:graphicData>
        </a:graphic>
      </p:graphicFrame>
      <p:pic>
        <p:nvPicPr>
          <p:cNvPr id="15" name="Picture 14" descr="image.png"/>
          <p:cNvPicPr>
            <a:picLocks noChangeAspect="1"/>
          </p:cNvPicPr>
          <p:nvPr/>
        </p:nvPicPr>
        <p:blipFill>
          <a:blip r:embed="rId2"/>
          <a:stretch>
            <a:fillRect/>
          </a:stretch>
        </p:blipFill>
        <p:spPr>
          <a:xfrm>
            <a:off x="409575" y="6076950"/>
            <a:ext cx="133350" cy="114300"/>
          </a:xfrm>
          <a:prstGeom prst="rect">
            <a:avLst/>
          </a:prstGeom>
        </p:spPr>
      </p:pic>
      <p:sp>
        <p:nvSpPr>
          <p:cNvPr id="16" name="TextBox 15"/>
          <p:cNvSpPr txBox="1"/>
          <p:nvPr/>
        </p:nvSpPr>
        <p:spPr>
          <a:xfrm>
            <a:off x="619125" y="6057900"/>
            <a:ext cx="7634763" cy="152400"/>
          </a:xfrm>
          <a:prstGeom prst="rect">
            <a:avLst/>
          </a:prstGeom>
          <a:noFill/>
        </p:spPr>
        <p:txBody>
          <a:bodyPr wrap="square" lIns="0" tIns="0" rIns="0" bIns="0" anchor="t">
            <a:spAutoFit/>
          </a:bodyPr>
          <a:lstStyle/>
          <a:p>
            <a:pPr algn="l">
              <a:lnSpc>
                <a:spcPts val="1200"/>
              </a:lnSpc>
            </a:pPr>
            <a:r>
              <a:rPr sz="900" b="0" i="0" u="none">
                <a:solidFill>
                  <a:srgbClr val="475569"/>
                </a:solidFill>
                <a:latin typeface="Inter"/>
              </a:rPr>
              <a:t>Privexis bridges syntactic detection standards (RFC 5322, Verhoeff) with operational privacy governance (DPDP Act, 2023).</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47675" y="1428750"/>
            <a:ext cx="304800" cy="304800"/>
          </a:xfrm>
          <a:prstGeom prst="rect">
            <a:avLst/>
          </a:prstGeom>
        </p:spPr>
      </p:pic>
      <p:pic>
        <p:nvPicPr>
          <p:cNvPr id="3" name="Picture 2" descr="image.png"/>
          <p:cNvPicPr>
            <a:picLocks noChangeAspect="1"/>
          </p:cNvPicPr>
          <p:nvPr/>
        </p:nvPicPr>
        <p:blipFill>
          <a:blip r:embed="rId3"/>
          <a:stretch>
            <a:fillRect/>
          </a:stretch>
        </p:blipFill>
        <p:spPr>
          <a:xfrm>
            <a:off x="447675" y="2790825"/>
            <a:ext cx="304800" cy="304800"/>
          </a:xfrm>
          <a:prstGeom prst="rect">
            <a:avLst/>
          </a:prstGeom>
        </p:spPr>
      </p:pic>
      <p:pic>
        <p:nvPicPr>
          <p:cNvPr id="4" name="Picture 3" descr="image.png"/>
          <p:cNvPicPr>
            <a:picLocks noChangeAspect="1"/>
          </p:cNvPicPr>
          <p:nvPr/>
        </p:nvPicPr>
        <p:blipFill>
          <a:blip r:embed="rId4"/>
          <a:stretch>
            <a:fillRect/>
          </a:stretch>
        </p:blipFill>
        <p:spPr>
          <a:xfrm>
            <a:off x="447675" y="4152900"/>
            <a:ext cx="304800" cy="304800"/>
          </a:xfrm>
          <a:prstGeom prst="rect">
            <a:avLst/>
          </a:prstGeom>
        </p:spPr>
      </p:pic>
      <p:pic>
        <p:nvPicPr>
          <p:cNvPr id="5" name="Picture 4" descr="image.png"/>
          <p:cNvPicPr>
            <a:picLocks noChangeAspect="1"/>
          </p:cNvPicPr>
          <p:nvPr/>
        </p:nvPicPr>
        <p:blipFill>
          <a:blip r:embed="rId5"/>
          <a:stretch>
            <a:fillRect/>
          </a:stretch>
        </p:blipFill>
        <p:spPr>
          <a:xfrm>
            <a:off x="447675" y="5514975"/>
            <a:ext cx="304800" cy="304800"/>
          </a:xfrm>
          <a:prstGeom prst="rect">
            <a:avLst/>
          </a:prstGeom>
        </p:spPr>
      </p:pic>
      <p:sp>
        <p:nvSpPr>
          <p:cNvPr id="6" name="Rounded Rectangle 5"/>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7172325" y="1285875"/>
            <a:ext cx="4714875" cy="4914900"/>
          </a:xfrm>
          <a:prstGeom prst="roundRect">
            <a:avLst>
              <a:gd name="adj" fmla="val 2424"/>
            </a:avLst>
          </a:prstGeom>
          <a:solidFill>
            <a:srgbClr val="EFF6FF">
              <a:alpha val="50000"/>
            </a:srgbClr>
          </a:solidFill>
          <a:ln w="1905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04800" y="1285875"/>
            <a:ext cx="6677025" cy="828675"/>
          </a:xfrm>
          <a:prstGeom prst="roundRect">
            <a:avLst>
              <a:gd name="adj" fmla="val 1379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4800" y="2647950"/>
            <a:ext cx="6677025" cy="828675"/>
          </a:xfrm>
          <a:prstGeom prst="roundRect">
            <a:avLst>
              <a:gd name="adj" fmla="val 1379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04800" y="4010025"/>
            <a:ext cx="6677025" cy="828675"/>
          </a:xfrm>
          <a:prstGeom prst="roundRect">
            <a:avLst>
              <a:gd name="adj" fmla="val 1379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04800" y="5372100"/>
            <a:ext cx="6677025" cy="828675"/>
          </a:xfrm>
          <a:prstGeom prst="roundRect">
            <a:avLst>
              <a:gd name="adj" fmla="val 1379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343775" y="5667375"/>
            <a:ext cx="4371975" cy="361950"/>
          </a:xfrm>
          <a:prstGeom prst="roundRect">
            <a:avLst>
              <a:gd name="adj" fmla="val 10526"/>
            </a:avLst>
          </a:prstGeom>
          <a:solidFill>
            <a:srgbClr val="FFFF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1048851" y="1462087"/>
            <a:ext cx="666898" cy="180975"/>
          </a:xfrm>
          <a:prstGeom prst="roundRect">
            <a:avLst>
              <a:gd name="adj" fmla="val 21052"/>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7343775" y="1847850"/>
            <a:ext cx="4371975" cy="323850"/>
          </a:xfrm>
          <a:prstGeom prst="roundRect">
            <a:avLst>
              <a:gd name="adj" fmla="val 23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7343775" y="2247900"/>
            <a:ext cx="4371975" cy="323850"/>
          </a:xfrm>
          <a:prstGeom prst="roundRect">
            <a:avLst>
              <a:gd name="adj" fmla="val 23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7343775" y="2647950"/>
            <a:ext cx="4371975" cy="323850"/>
          </a:xfrm>
          <a:prstGeom prst="roundRect">
            <a:avLst>
              <a:gd name="adj" fmla="val 23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43775" y="3048000"/>
            <a:ext cx="4371975" cy="323850"/>
          </a:xfrm>
          <a:prstGeom prst="roundRect">
            <a:avLst>
              <a:gd name="adj" fmla="val 23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7343775" y="3448050"/>
            <a:ext cx="4371975" cy="323850"/>
          </a:xfrm>
          <a:prstGeom prst="roundRect">
            <a:avLst>
              <a:gd name="adj" fmla="val 23529"/>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652521" y="304800"/>
            <a:ext cx="1419879"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Technical Approach</a:t>
            </a:r>
          </a:p>
        </p:txBody>
      </p:sp>
      <p:sp>
        <p:nvSpPr>
          <p:cNvPr id="20" name="TextBox 19"/>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Proposed Solution</a:t>
            </a:r>
          </a:p>
        </p:txBody>
      </p:sp>
      <p:sp>
        <p:nvSpPr>
          <p:cNvPr id="21" name="TextBox 20"/>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Privexis: a configurable scanner that turns raw files into a reviewable evidence inventory.</a:t>
            </a:r>
          </a:p>
        </p:txBody>
      </p:sp>
      <p:sp>
        <p:nvSpPr>
          <p:cNvPr id="22" name="TextBox 21"/>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23" name="TextBox 22"/>
          <p:cNvSpPr txBox="1"/>
          <p:nvPr/>
        </p:nvSpPr>
        <p:spPr>
          <a:xfrm>
            <a:off x="11610975" y="6400800"/>
            <a:ext cx="317658"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5 / 11</a:t>
            </a:r>
          </a:p>
        </p:txBody>
      </p:sp>
      <p:sp>
        <p:nvSpPr>
          <p:cNvPr id="24" name="TextBox 23"/>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25" name="TextBox 24"/>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26" name="TextBox 25"/>
          <p:cNvSpPr txBox="1"/>
          <p:nvPr/>
        </p:nvSpPr>
        <p:spPr>
          <a:xfrm>
            <a:off x="944909" y="304800"/>
            <a:ext cx="1139190"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Proposed Solution</a:t>
            </a:r>
          </a:p>
        </p:txBody>
      </p:sp>
      <p:pic>
        <p:nvPicPr>
          <p:cNvPr id="27" name="Picture 26" descr="image.png"/>
          <p:cNvPicPr>
            <a:picLocks noChangeAspect="1"/>
          </p:cNvPicPr>
          <p:nvPr/>
        </p:nvPicPr>
        <p:blipFill>
          <a:blip r:embed="rId6"/>
          <a:stretch>
            <a:fillRect/>
          </a:stretch>
        </p:blipFill>
        <p:spPr>
          <a:xfrm>
            <a:off x="8239125" y="5791200"/>
            <a:ext cx="114300" cy="114300"/>
          </a:xfrm>
          <a:prstGeom prst="rect">
            <a:avLst/>
          </a:prstGeom>
        </p:spPr>
      </p:pic>
      <p:sp>
        <p:nvSpPr>
          <p:cNvPr id="28" name="TextBox 27"/>
          <p:cNvSpPr txBox="1"/>
          <p:nvPr/>
        </p:nvSpPr>
        <p:spPr>
          <a:xfrm>
            <a:off x="866775" y="1428750"/>
            <a:ext cx="6868001" cy="152400"/>
          </a:xfrm>
          <a:prstGeom prst="rect">
            <a:avLst/>
          </a:prstGeom>
          <a:noFill/>
        </p:spPr>
        <p:txBody>
          <a:bodyPr wrap="square" lIns="0" tIns="0" rIns="0" bIns="0" anchor="t">
            <a:spAutoFit/>
          </a:bodyPr>
          <a:lstStyle/>
          <a:p>
            <a:pPr algn="l">
              <a:lnSpc>
                <a:spcPts val="1200"/>
              </a:lnSpc>
            </a:pPr>
            <a:r>
              <a:rPr sz="900" b="1" i="0" u="none">
                <a:solidFill>
                  <a:srgbClr val="0F172A"/>
                </a:solidFill>
                <a:latin typeface="Inter"/>
              </a:rPr>
              <a:t>Dual Source Connectors &amp; Bounded Sampler</a:t>
            </a:r>
          </a:p>
        </p:txBody>
      </p:sp>
      <p:sp>
        <p:nvSpPr>
          <p:cNvPr id="29" name="TextBox 28"/>
          <p:cNvSpPr txBox="1"/>
          <p:nvPr/>
        </p:nvSpPr>
        <p:spPr>
          <a:xfrm>
            <a:off x="866775" y="1600200"/>
            <a:ext cx="5972175"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Connectors read CSV files and one SQLite database; a sampler extracts a bounded sample of values per column to ensure rapid, deterministic scanning.</a:t>
            </a:r>
          </a:p>
        </p:txBody>
      </p:sp>
      <p:sp>
        <p:nvSpPr>
          <p:cNvPr id="30" name="TextBox 29"/>
          <p:cNvSpPr txBox="1"/>
          <p:nvPr/>
        </p:nvSpPr>
        <p:spPr>
          <a:xfrm>
            <a:off x="866775" y="2790825"/>
            <a:ext cx="6868001" cy="152400"/>
          </a:xfrm>
          <a:prstGeom prst="rect">
            <a:avLst/>
          </a:prstGeom>
          <a:noFill/>
        </p:spPr>
        <p:txBody>
          <a:bodyPr wrap="square" lIns="0" tIns="0" rIns="0" bIns="0" anchor="t">
            <a:spAutoFit/>
          </a:bodyPr>
          <a:lstStyle/>
          <a:p>
            <a:pPr algn="l">
              <a:lnSpc>
                <a:spcPts val="1200"/>
              </a:lnSpc>
            </a:pPr>
            <a:r>
              <a:rPr sz="900" b="1" i="0" u="none">
                <a:solidFill>
                  <a:srgbClr val="0F172A"/>
                </a:solidFill>
                <a:latin typeface="Inter"/>
              </a:rPr>
              <a:t>Declarative YAML Rule Engine</a:t>
            </a:r>
          </a:p>
        </p:txBody>
      </p:sp>
      <p:sp>
        <p:nvSpPr>
          <p:cNvPr id="31" name="TextBox 30"/>
          <p:cNvSpPr txBox="1"/>
          <p:nvPr/>
        </p:nvSpPr>
        <p:spPr>
          <a:xfrm>
            <a:off x="866775" y="2962275"/>
            <a:ext cx="5972175"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A YAML rule engine scores each column by fusing column-name hints, regex value patterns, and mathematical checksum validators.</a:t>
            </a:r>
          </a:p>
        </p:txBody>
      </p:sp>
      <p:sp>
        <p:nvSpPr>
          <p:cNvPr id="32" name="TextBox 31"/>
          <p:cNvSpPr txBox="1"/>
          <p:nvPr/>
        </p:nvSpPr>
        <p:spPr>
          <a:xfrm>
            <a:off x="866775" y="4152900"/>
            <a:ext cx="6868001" cy="152400"/>
          </a:xfrm>
          <a:prstGeom prst="rect">
            <a:avLst/>
          </a:prstGeom>
          <a:noFill/>
        </p:spPr>
        <p:txBody>
          <a:bodyPr wrap="square" lIns="0" tIns="0" rIns="0" bIns="0" anchor="t">
            <a:spAutoFit/>
          </a:bodyPr>
          <a:lstStyle/>
          <a:p>
            <a:pPr algn="l">
              <a:lnSpc>
                <a:spcPts val="1200"/>
              </a:lnSpc>
            </a:pPr>
            <a:r>
              <a:rPr sz="900" b="1" i="0" u="none">
                <a:solidFill>
                  <a:srgbClr val="0F172A"/>
                </a:solidFill>
                <a:latin typeface="Inter"/>
              </a:rPr>
              <a:t>Metadata Linker &amp; Automated Gap Report</a:t>
            </a:r>
          </a:p>
        </p:txBody>
      </p:sp>
      <p:sp>
        <p:nvSpPr>
          <p:cNvPr id="33" name="TextBox 32"/>
          <p:cNvSpPr txBox="1"/>
          <p:nvPr/>
        </p:nvSpPr>
        <p:spPr>
          <a:xfrm>
            <a:off x="866775" y="4324350"/>
            <a:ext cx="5972175"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A linker joins each flagged field to its declared purpose and retention entry. A gap report systematically flags fields with missing metadata.</a:t>
            </a:r>
          </a:p>
        </p:txBody>
      </p:sp>
      <p:sp>
        <p:nvSpPr>
          <p:cNvPr id="34" name="TextBox 33"/>
          <p:cNvSpPr txBox="1"/>
          <p:nvPr/>
        </p:nvSpPr>
        <p:spPr>
          <a:xfrm>
            <a:off x="866775" y="5514975"/>
            <a:ext cx="6868001" cy="152400"/>
          </a:xfrm>
          <a:prstGeom prst="rect">
            <a:avLst/>
          </a:prstGeom>
          <a:noFill/>
        </p:spPr>
        <p:txBody>
          <a:bodyPr wrap="square" lIns="0" tIns="0" rIns="0" bIns="0" anchor="t">
            <a:spAutoFit/>
          </a:bodyPr>
          <a:lstStyle/>
          <a:p>
            <a:pPr algn="l">
              <a:lnSpc>
                <a:spcPts val="1200"/>
              </a:lnSpc>
            </a:pPr>
            <a:r>
              <a:rPr sz="900" b="1" i="0" u="none">
                <a:solidFill>
                  <a:srgbClr val="0F172A"/>
                </a:solidFill>
                <a:latin typeface="Inter"/>
              </a:rPr>
              <a:t>Candidate Evidence for Human Review</a:t>
            </a:r>
          </a:p>
        </p:txBody>
      </p:sp>
      <p:sp>
        <p:nvSpPr>
          <p:cNvPr id="35" name="TextBox 34"/>
          <p:cNvSpPr txBox="1"/>
          <p:nvPr/>
        </p:nvSpPr>
        <p:spPr>
          <a:xfrm>
            <a:off x="866775" y="5686425"/>
            <a:ext cx="5972175"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Every discovery output is explicitly tagged as candidate evidence for human review, preventing automated misclassification.</a:t>
            </a:r>
          </a:p>
        </p:txBody>
      </p:sp>
      <p:sp>
        <p:nvSpPr>
          <p:cNvPr id="36" name="TextBox 35"/>
          <p:cNvSpPr txBox="1"/>
          <p:nvPr/>
        </p:nvSpPr>
        <p:spPr>
          <a:xfrm>
            <a:off x="7343775" y="1457325"/>
            <a:ext cx="1785461" cy="190500"/>
          </a:xfrm>
          <a:prstGeom prst="rect">
            <a:avLst/>
          </a:prstGeom>
          <a:noFill/>
        </p:spPr>
        <p:txBody>
          <a:bodyPr wrap="square" lIns="0" tIns="0" rIns="0" bIns="0" anchor="t">
            <a:spAutoFit/>
          </a:bodyPr>
          <a:lstStyle/>
          <a:p>
            <a:pPr algn="l">
              <a:lnSpc>
                <a:spcPts val="1500"/>
              </a:lnSpc>
            </a:pPr>
            <a:r>
              <a:rPr sz="1050" b="1" i="0" u="none">
                <a:solidFill>
                  <a:srgbClr val="1E3A8A"/>
                </a:solidFill>
                <a:latin typeface="Inter"/>
              </a:rPr>
              <a:t>5 Data Classes (PS-019)</a:t>
            </a:r>
          </a:p>
        </p:txBody>
      </p:sp>
      <p:sp>
        <p:nvSpPr>
          <p:cNvPr id="37" name="Rounded Rectangle 36"/>
          <p:cNvSpPr/>
          <p:nvPr/>
        </p:nvSpPr>
        <p:spPr>
          <a:xfrm>
            <a:off x="11048851" y="1462087"/>
            <a:ext cx="666898" cy="180975"/>
          </a:xfrm>
          <a:prstGeom prst="roundRect">
            <a:avLst>
              <a:gd name="adj" fmla="val 21052"/>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125051" y="1481137"/>
            <a:ext cx="591673" cy="142875"/>
          </a:xfrm>
          <a:prstGeom prst="rect">
            <a:avLst/>
          </a:prstGeom>
          <a:noFill/>
        </p:spPr>
        <p:txBody>
          <a:bodyPr wrap="square" lIns="0" tIns="0" rIns="0" bIns="0" anchor="t">
            <a:spAutoFit/>
          </a:bodyPr>
          <a:lstStyle/>
          <a:p>
            <a:pPr algn="l">
              <a:lnSpc>
                <a:spcPts val="1125"/>
              </a:lnSpc>
            </a:pPr>
            <a:r>
              <a:rPr sz="750" b="1" i="0" u="none">
                <a:solidFill>
                  <a:srgbClr val="1E40AF"/>
                </a:solidFill>
                <a:latin typeface="ui-monospace"/>
              </a:rPr>
              <a:t>Mandatory</a:t>
            </a:r>
          </a:p>
        </p:txBody>
      </p:sp>
      <p:sp>
        <p:nvSpPr>
          <p:cNvPr id="39" name="TextBox 38"/>
          <p:cNvSpPr txBox="1"/>
          <p:nvPr/>
        </p:nvSpPr>
        <p:spPr>
          <a:xfrm>
            <a:off x="7429500" y="1933575"/>
            <a:ext cx="460057" cy="152400"/>
          </a:xfrm>
          <a:prstGeom prst="rect">
            <a:avLst/>
          </a:prstGeom>
          <a:noFill/>
        </p:spPr>
        <p:txBody>
          <a:bodyPr wrap="square" lIns="0" tIns="0" rIns="0" bIns="0" anchor="t">
            <a:spAutoFit/>
          </a:bodyPr>
          <a:lstStyle/>
          <a:p>
            <a:pPr algn="l">
              <a:lnSpc>
                <a:spcPts val="1200"/>
              </a:lnSpc>
            </a:pPr>
            <a:r>
              <a:rPr sz="900" b="1" i="0" u="none">
                <a:solidFill>
                  <a:srgbClr val="1E293B"/>
                </a:solidFill>
                <a:latin typeface="Inter"/>
              </a:rPr>
              <a:t>• Name</a:t>
            </a:r>
          </a:p>
        </p:txBody>
      </p:sp>
      <p:sp>
        <p:nvSpPr>
          <p:cNvPr id="40" name="TextBox 39"/>
          <p:cNvSpPr txBox="1"/>
          <p:nvPr/>
        </p:nvSpPr>
        <p:spPr>
          <a:xfrm>
            <a:off x="10623946" y="1933575"/>
            <a:ext cx="1156989" cy="152400"/>
          </a:xfrm>
          <a:prstGeom prst="rect">
            <a:avLst/>
          </a:prstGeom>
          <a:noFill/>
        </p:spPr>
        <p:txBody>
          <a:bodyPr wrap="square" lIns="0" tIns="0" rIns="0" bIns="0" anchor="t">
            <a:spAutoFit/>
          </a:bodyPr>
          <a:lstStyle/>
          <a:p>
            <a:pPr algn="l">
              <a:lnSpc>
                <a:spcPts val="1200"/>
              </a:lnSpc>
            </a:pPr>
            <a:r>
              <a:rPr sz="825" b="0" i="0" u="none">
                <a:solidFill>
                  <a:srgbClr val="64748B"/>
                </a:solidFill>
                <a:latin typeface="ui-monospace"/>
              </a:rPr>
              <a:t>Alphabetic / NER</a:t>
            </a:r>
          </a:p>
        </p:txBody>
      </p:sp>
      <p:sp>
        <p:nvSpPr>
          <p:cNvPr id="41" name="TextBox 40"/>
          <p:cNvSpPr txBox="1"/>
          <p:nvPr/>
        </p:nvSpPr>
        <p:spPr>
          <a:xfrm>
            <a:off x="7429500" y="2333625"/>
            <a:ext cx="996791" cy="152400"/>
          </a:xfrm>
          <a:prstGeom prst="rect">
            <a:avLst/>
          </a:prstGeom>
          <a:noFill/>
        </p:spPr>
        <p:txBody>
          <a:bodyPr wrap="square" lIns="0" tIns="0" rIns="0" bIns="0" anchor="t">
            <a:spAutoFit/>
          </a:bodyPr>
          <a:lstStyle/>
          <a:p>
            <a:pPr algn="l">
              <a:lnSpc>
                <a:spcPts val="1200"/>
              </a:lnSpc>
            </a:pPr>
            <a:r>
              <a:rPr sz="900" b="1" i="0" u="none">
                <a:solidFill>
                  <a:srgbClr val="1E293B"/>
                </a:solidFill>
                <a:latin typeface="Inter"/>
              </a:rPr>
              <a:t>• Email address</a:t>
            </a:r>
          </a:p>
        </p:txBody>
      </p:sp>
      <p:sp>
        <p:nvSpPr>
          <p:cNvPr id="42" name="TextBox 41"/>
          <p:cNvSpPr txBox="1"/>
          <p:nvPr/>
        </p:nvSpPr>
        <p:spPr>
          <a:xfrm>
            <a:off x="10749706" y="2333625"/>
            <a:ext cx="1012366" cy="152400"/>
          </a:xfrm>
          <a:prstGeom prst="rect">
            <a:avLst/>
          </a:prstGeom>
          <a:noFill/>
        </p:spPr>
        <p:txBody>
          <a:bodyPr wrap="square" lIns="0" tIns="0" rIns="0" bIns="0" anchor="t">
            <a:spAutoFit/>
          </a:bodyPr>
          <a:lstStyle/>
          <a:p>
            <a:pPr algn="l">
              <a:lnSpc>
                <a:spcPts val="1200"/>
              </a:lnSpc>
            </a:pPr>
            <a:r>
              <a:rPr sz="825" b="0" i="0" u="none">
                <a:solidFill>
                  <a:srgbClr val="64748B"/>
                </a:solidFill>
                <a:latin typeface="ui-monospace"/>
              </a:rPr>
              <a:t>RFC 5322 regex</a:t>
            </a:r>
          </a:p>
        </p:txBody>
      </p:sp>
      <p:sp>
        <p:nvSpPr>
          <p:cNvPr id="43" name="TextBox 42"/>
          <p:cNvSpPr txBox="1"/>
          <p:nvPr/>
        </p:nvSpPr>
        <p:spPr>
          <a:xfrm>
            <a:off x="7429500" y="2733675"/>
            <a:ext cx="1051560" cy="152400"/>
          </a:xfrm>
          <a:prstGeom prst="rect">
            <a:avLst/>
          </a:prstGeom>
          <a:noFill/>
        </p:spPr>
        <p:txBody>
          <a:bodyPr wrap="square" lIns="0" tIns="0" rIns="0" bIns="0" anchor="t">
            <a:spAutoFit/>
          </a:bodyPr>
          <a:lstStyle/>
          <a:p>
            <a:pPr algn="l">
              <a:lnSpc>
                <a:spcPts val="1200"/>
              </a:lnSpc>
            </a:pPr>
            <a:r>
              <a:rPr sz="900" b="1" i="0" u="none">
                <a:solidFill>
                  <a:srgbClr val="1E293B"/>
                </a:solidFill>
                <a:latin typeface="Inter"/>
              </a:rPr>
              <a:t>• Phone number</a:t>
            </a:r>
          </a:p>
        </p:txBody>
      </p:sp>
      <p:sp>
        <p:nvSpPr>
          <p:cNvPr id="44" name="TextBox 43"/>
          <p:cNvSpPr txBox="1"/>
          <p:nvPr/>
        </p:nvSpPr>
        <p:spPr>
          <a:xfrm>
            <a:off x="10623946" y="2733675"/>
            <a:ext cx="1156989" cy="152400"/>
          </a:xfrm>
          <a:prstGeom prst="rect">
            <a:avLst/>
          </a:prstGeom>
          <a:noFill/>
        </p:spPr>
        <p:txBody>
          <a:bodyPr wrap="square" lIns="0" tIns="0" rIns="0" bIns="0" anchor="t">
            <a:spAutoFit/>
          </a:bodyPr>
          <a:lstStyle/>
          <a:p>
            <a:pPr algn="l">
              <a:lnSpc>
                <a:spcPts val="1200"/>
              </a:lnSpc>
            </a:pPr>
            <a:r>
              <a:rPr sz="825" b="0" i="0" u="none">
                <a:solidFill>
                  <a:srgbClr val="64748B"/>
                </a:solidFill>
                <a:latin typeface="ui-monospace"/>
              </a:rPr>
              <a:t>10-digit / E.164</a:t>
            </a:r>
          </a:p>
        </p:txBody>
      </p:sp>
      <p:sp>
        <p:nvSpPr>
          <p:cNvPr id="45" name="TextBox 44"/>
          <p:cNvSpPr txBox="1"/>
          <p:nvPr/>
        </p:nvSpPr>
        <p:spPr>
          <a:xfrm>
            <a:off x="7429500" y="3133725"/>
            <a:ext cx="1062513" cy="152400"/>
          </a:xfrm>
          <a:prstGeom prst="rect">
            <a:avLst/>
          </a:prstGeom>
          <a:noFill/>
        </p:spPr>
        <p:txBody>
          <a:bodyPr wrap="square" lIns="0" tIns="0" rIns="0" bIns="0" anchor="t">
            <a:spAutoFit/>
          </a:bodyPr>
          <a:lstStyle/>
          <a:p>
            <a:pPr algn="l">
              <a:lnSpc>
                <a:spcPts val="1200"/>
              </a:lnSpc>
            </a:pPr>
            <a:r>
              <a:rPr sz="900" b="1" i="0" u="none">
                <a:solidFill>
                  <a:srgbClr val="1E293B"/>
                </a:solidFill>
                <a:latin typeface="Inter"/>
              </a:rPr>
              <a:t>• Government ID</a:t>
            </a:r>
          </a:p>
        </p:txBody>
      </p:sp>
      <p:sp>
        <p:nvSpPr>
          <p:cNvPr id="46" name="TextBox 45"/>
          <p:cNvSpPr txBox="1"/>
          <p:nvPr/>
        </p:nvSpPr>
        <p:spPr>
          <a:xfrm>
            <a:off x="10120907" y="3133725"/>
            <a:ext cx="1735484" cy="152400"/>
          </a:xfrm>
          <a:prstGeom prst="rect">
            <a:avLst/>
          </a:prstGeom>
          <a:noFill/>
        </p:spPr>
        <p:txBody>
          <a:bodyPr wrap="square" lIns="0" tIns="0" rIns="0" bIns="0" anchor="t">
            <a:spAutoFit/>
          </a:bodyPr>
          <a:lstStyle/>
          <a:p>
            <a:pPr algn="l">
              <a:lnSpc>
                <a:spcPts val="1200"/>
              </a:lnSpc>
            </a:pPr>
            <a:r>
              <a:rPr sz="825" b="1" i="0" u="none">
                <a:solidFill>
                  <a:srgbClr val="1D4ED8"/>
                </a:solidFill>
                <a:latin typeface="ui-monospace"/>
              </a:rPr>
              <a:t>Aadhaar (Verhoeff) / PAN</a:t>
            </a:r>
          </a:p>
        </p:txBody>
      </p:sp>
      <p:sp>
        <p:nvSpPr>
          <p:cNvPr id="47" name="TextBox 46"/>
          <p:cNvSpPr txBox="1"/>
          <p:nvPr/>
        </p:nvSpPr>
        <p:spPr>
          <a:xfrm>
            <a:off x="7429500" y="3533775"/>
            <a:ext cx="1336357" cy="152400"/>
          </a:xfrm>
          <a:prstGeom prst="rect">
            <a:avLst/>
          </a:prstGeom>
          <a:noFill/>
        </p:spPr>
        <p:txBody>
          <a:bodyPr wrap="square" lIns="0" tIns="0" rIns="0" bIns="0" anchor="t">
            <a:spAutoFit/>
          </a:bodyPr>
          <a:lstStyle/>
          <a:p>
            <a:pPr algn="l">
              <a:lnSpc>
                <a:spcPts val="1200"/>
              </a:lnSpc>
            </a:pPr>
            <a:r>
              <a:rPr sz="900" b="1" i="0" u="none">
                <a:solidFill>
                  <a:srgbClr val="1E293B"/>
                </a:solidFill>
                <a:latin typeface="Inter"/>
              </a:rPr>
              <a:t>• Date of birth (DOB)</a:t>
            </a:r>
          </a:p>
        </p:txBody>
      </p:sp>
      <p:sp>
        <p:nvSpPr>
          <p:cNvPr id="48" name="TextBox 47"/>
          <p:cNvSpPr txBox="1"/>
          <p:nvPr/>
        </p:nvSpPr>
        <p:spPr>
          <a:xfrm>
            <a:off x="10623946" y="3533775"/>
            <a:ext cx="1156989" cy="152400"/>
          </a:xfrm>
          <a:prstGeom prst="rect">
            <a:avLst/>
          </a:prstGeom>
          <a:noFill/>
        </p:spPr>
        <p:txBody>
          <a:bodyPr wrap="square" lIns="0" tIns="0" rIns="0" bIns="0" anchor="t">
            <a:spAutoFit/>
          </a:bodyPr>
          <a:lstStyle/>
          <a:p>
            <a:pPr algn="l">
              <a:lnSpc>
                <a:spcPts val="1200"/>
              </a:lnSpc>
            </a:pPr>
            <a:r>
              <a:rPr sz="825" b="0" i="0" u="none">
                <a:solidFill>
                  <a:srgbClr val="64748B"/>
                </a:solidFill>
                <a:latin typeface="ui-monospace"/>
              </a:rPr>
              <a:t>ISO &amp; DMY bounds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304800" y="5953125"/>
            <a:ext cx="11582400" cy="361950"/>
          </a:xfrm>
          <a:prstGeom prst="roundRect">
            <a:avLst>
              <a:gd name="adj" fmla="val 21052"/>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04800" y="2405062"/>
            <a:ext cx="11582400" cy="2314575"/>
          </a:xfrm>
          <a:prstGeom prst="roundRect">
            <a:avLst>
              <a:gd name="adj" fmla="val 4938"/>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446692" y="304800"/>
            <a:ext cx="1656583"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Technical Enhancement</a:t>
            </a:r>
          </a:p>
        </p:txBody>
      </p:sp>
      <p:sp>
        <p:nvSpPr>
          <p:cNvPr id="6" name="TextBox 5"/>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Optimization Proposed</a:t>
            </a:r>
          </a:p>
        </p:txBody>
      </p:sp>
      <p:sp>
        <p:nvSpPr>
          <p:cNvPr id="7" name="TextBox 6"/>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Before and after: what each design choice improves.</a:t>
            </a:r>
          </a:p>
        </p:txBody>
      </p:sp>
      <p:sp>
        <p:nvSpPr>
          <p:cNvPr id="8" name="TextBox 7"/>
          <p:cNvSpPr txBox="1"/>
          <p:nvPr/>
        </p:nvSpPr>
        <p:spPr>
          <a:xfrm>
            <a:off x="10587781" y="6057900"/>
            <a:ext cx="1373839" cy="152400"/>
          </a:xfrm>
          <a:prstGeom prst="rect">
            <a:avLst/>
          </a:prstGeom>
          <a:noFill/>
        </p:spPr>
        <p:txBody>
          <a:bodyPr wrap="square" lIns="0" tIns="0" rIns="0" bIns="0" anchor="t">
            <a:spAutoFit/>
          </a:bodyPr>
          <a:lstStyle/>
          <a:p>
            <a:pPr algn="l">
              <a:lnSpc>
                <a:spcPts val="1200"/>
              </a:lnSpc>
            </a:pPr>
            <a:r>
              <a:rPr sz="825" b="0" i="0" u="none">
                <a:solidFill>
                  <a:srgbClr val="64748B"/>
                </a:solidFill>
                <a:latin typeface="ui-monospace"/>
              </a:rPr>
              <a:t>Optimization Matrix</a:t>
            </a:r>
          </a:p>
        </p:txBody>
      </p:sp>
      <p:sp>
        <p:nvSpPr>
          <p:cNvPr id="9" name="TextBox 8"/>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10" name="TextBox 9"/>
          <p:cNvSpPr txBox="1"/>
          <p:nvPr/>
        </p:nvSpPr>
        <p:spPr>
          <a:xfrm>
            <a:off x="11610975" y="6400800"/>
            <a:ext cx="317658"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6 / 11</a:t>
            </a:r>
          </a:p>
        </p:txBody>
      </p:sp>
      <p:sp>
        <p:nvSpPr>
          <p:cNvPr id="11" name="TextBox 10"/>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12" name="TextBox 11"/>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13" name="TextBox 12"/>
          <p:cNvSpPr txBox="1"/>
          <p:nvPr/>
        </p:nvSpPr>
        <p:spPr>
          <a:xfrm>
            <a:off x="944909" y="304800"/>
            <a:ext cx="1325403"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Solution Optimization</a:t>
            </a:r>
          </a:p>
        </p:txBody>
      </p:sp>
      <p:graphicFrame>
        <p:nvGraphicFramePr>
          <p:cNvPr id="14" name="Table 13"/>
          <p:cNvGraphicFramePr>
            <a:graphicFrameLocks noGrp="1"/>
          </p:cNvGraphicFramePr>
          <p:nvPr/>
        </p:nvGraphicFramePr>
        <p:xfrm>
          <a:off x="314325" y="2414587"/>
          <a:ext cx="11563349" cy="2295525"/>
        </p:xfrm>
        <a:graphic>
          <a:graphicData uri="http://schemas.openxmlformats.org/drawingml/2006/table">
            <a:tbl>
              <a:tblPr/>
              <a:tblGrid>
                <a:gridCol w="2312640">
                  <a:extLst>
                    <a:ext uri="{9D8B030D-6E8A-4147-A177-3AD203B41FA5}">
                      <a16:colId xmlns:a16="http://schemas.microsoft.com/office/drawing/2014/main" val="20000"/>
                    </a:ext>
                  </a:extLst>
                </a:gridCol>
                <a:gridCol w="4625280">
                  <a:extLst>
                    <a:ext uri="{9D8B030D-6E8A-4147-A177-3AD203B41FA5}">
                      <a16:colId xmlns:a16="http://schemas.microsoft.com/office/drawing/2014/main" val="20001"/>
                    </a:ext>
                  </a:extLst>
                </a:gridCol>
                <a:gridCol w="4625429">
                  <a:extLst>
                    <a:ext uri="{9D8B030D-6E8A-4147-A177-3AD203B41FA5}">
                      <a16:colId xmlns:a16="http://schemas.microsoft.com/office/drawing/2014/main" val="20002"/>
                    </a:ext>
                  </a:extLst>
                </a:gridCol>
              </a:tblGrid>
              <a:tr h="382587">
                <a:tc>
                  <a:txBody>
                    <a:bodyPr/>
                    <a:lstStyle/>
                    <a:p>
                      <a:pPr algn="l"/>
                      <a:r>
                        <a:rPr sz="825" b="1" i="0" u="none" spc="41">
                          <a:solidFill>
                            <a:srgbClr val="FFFFFF"/>
                          </a:solidFill>
                          <a:latin typeface="Inter"/>
                        </a:rPr>
                        <a:t>Area</a:t>
                      </a:r>
                    </a:p>
                  </a:txBody>
                  <a:tcPr marL="63500" marR="63500" marT="25400" marB="25400" anchor="ctr">
                    <a:lnL>
                      <a:noFill/>
                    </a:lnL>
                    <a:lnR>
                      <a:noFill/>
                    </a:lnR>
                    <a:lnT>
                      <a:noFill/>
                    </a:lnT>
                    <a:lnB>
                      <a:noFill/>
                    </a:lnB>
                    <a:solidFill>
                      <a:srgbClr val="1D4ED8"/>
                    </a:solidFill>
                  </a:tcPr>
                </a:tc>
                <a:tc>
                  <a:txBody>
                    <a:bodyPr/>
                    <a:lstStyle/>
                    <a:p>
                      <a:pPr algn="l"/>
                      <a:r>
                        <a:rPr sz="825" b="1" i="0" u="none" spc="41">
                          <a:solidFill>
                            <a:srgbClr val="FFFFFF"/>
                          </a:solidFill>
                          <a:latin typeface="Inter"/>
                        </a:rPr>
                        <a:t>Before</a:t>
                      </a:r>
                    </a:p>
                  </a:txBody>
                  <a:tcPr marL="63500" marR="63500" marT="25400" marB="25400" anchor="ctr">
                    <a:lnL>
                      <a:noFill/>
                    </a:lnL>
                    <a:lnR>
                      <a:noFill/>
                    </a:lnR>
                    <a:lnT>
                      <a:noFill/>
                    </a:lnT>
                    <a:lnB>
                      <a:noFill/>
                    </a:lnB>
                    <a:solidFill>
                      <a:srgbClr val="1D4ED8"/>
                    </a:solidFill>
                  </a:tcPr>
                </a:tc>
                <a:tc>
                  <a:txBody>
                    <a:bodyPr/>
                    <a:lstStyle/>
                    <a:p>
                      <a:pPr algn="l"/>
                      <a:r>
                        <a:rPr sz="825" b="1" i="0" u="none" spc="41">
                          <a:solidFill>
                            <a:srgbClr val="FFFFFF"/>
                          </a:solidFill>
                          <a:latin typeface="Inter"/>
                        </a:rPr>
                        <a:t>After (proposed)</a:t>
                      </a:r>
                    </a:p>
                  </a:txBody>
                  <a:tcPr marL="63500" marR="63500" marT="25400" marB="25400" anchor="ctr">
                    <a:lnL>
                      <a:noFill/>
                    </a:lnL>
                    <a:lnR>
                      <a:noFill/>
                    </a:lnR>
                    <a:lnT>
                      <a:noFill/>
                    </a:lnT>
                    <a:lnB>
                      <a:noFill/>
                    </a:lnB>
                    <a:solidFill>
                      <a:srgbClr val="1E40AF"/>
                    </a:solidFill>
                  </a:tcPr>
                </a:tc>
                <a:extLst>
                  <a:ext uri="{0D108BD9-81ED-4DB2-BD59-A6C34878D82A}">
                    <a16:rowId xmlns:a16="http://schemas.microsoft.com/office/drawing/2014/main" val="10000"/>
                  </a:ext>
                </a:extLst>
              </a:tr>
              <a:tr h="382587">
                <a:tc>
                  <a:txBody>
                    <a:bodyPr/>
                    <a:lstStyle/>
                    <a:p>
                      <a:pPr algn="l"/>
                      <a:r>
                        <a:rPr sz="900" b="1" i="0" u="none">
                          <a:solidFill>
                            <a:srgbClr val="0F172A"/>
                          </a:solidFill>
                          <a:latin typeface="Inter"/>
                        </a:rPr>
                        <a:t>Detection</a:t>
                      </a:r>
                    </a:p>
                  </a:txBody>
                  <a:tcPr marL="63500" marR="63500" marT="25400" marB="25400" anchor="ctr">
                    <a:lnL>
                      <a:noFill/>
                    </a:lnL>
                    <a:lnR>
                      <a:noFill/>
                    </a:lnR>
                    <a:lnT>
                      <a:noFill/>
                    </a:lnT>
                    <a:lnB>
                      <a:noFill/>
                    </a:lnB>
                    <a:noFill/>
                  </a:tcPr>
                </a:tc>
                <a:tc>
                  <a:txBody>
                    <a:bodyPr/>
                    <a:lstStyle/>
                    <a:p>
                      <a:pPr algn="l"/>
                      <a:r>
                        <a:rPr sz="900" b="0" i="0" u="none">
                          <a:solidFill>
                            <a:srgbClr val="64748B"/>
                          </a:solidFill>
                          <a:latin typeface="Inter"/>
                        </a:rPr>
                        <a:t>Column-name match only</a:t>
                      </a:r>
                    </a:p>
                  </a:txBody>
                  <a:tcPr marL="63500" marR="63500" marT="25400" marB="25400" anchor="ctr">
                    <a:lnL>
                      <a:noFill/>
                    </a:lnL>
                    <a:lnR>
                      <a:noFill/>
                    </a:lnR>
                    <a:lnT>
                      <a:noFill/>
                    </a:lnT>
                    <a:lnB>
                      <a:noFill/>
                    </a:lnB>
                    <a:noFill/>
                  </a:tcPr>
                </a:tc>
                <a:tc>
                  <a:txBody>
                    <a:bodyPr/>
                    <a:lstStyle/>
                    <a:p>
                      <a:pPr algn="l"/>
                      <a:r>
                        <a:rPr sz="900" b="1" i="0" u="none">
                          <a:solidFill>
                            <a:srgbClr val="1E3A8A"/>
                          </a:solidFill>
                          <a:latin typeface="Inter"/>
                        </a:rPr>
                        <a:t>Name hints + value patterns + validators, combined into one confidence score</a:t>
                      </a:r>
                    </a:p>
                  </a:txBody>
                  <a:tcPr marL="63500" marR="63500" marT="25400" marB="25400" anchor="ctr">
                    <a:lnL>
                      <a:noFill/>
                    </a:lnL>
                    <a:lnR>
                      <a:noFill/>
                    </a:lnR>
                    <a:lnT>
                      <a:noFill/>
                    </a:lnT>
                    <a:lnB>
                      <a:noFill/>
                    </a:lnB>
                    <a:solidFill>
                      <a:srgbClr val="EFF6FF">
                        <a:alpha val="40000"/>
                      </a:srgbClr>
                    </a:solidFill>
                  </a:tcPr>
                </a:tc>
                <a:extLst>
                  <a:ext uri="{0D108BD9-81ED-4DB2-BD59-A6C34878D82A}">
                    <a16:rowId xmlns:a16="http://schemas.microsoft.com/office/drawing/2014/main" val="10001"/>
                  </a:ext>
                </a:extLst>
              </a:tr>
              <a:tr h="382587">
                <a:tc>
                  <a:txBody>
                    <a:bodyPr/>
                    <a:lstStyle/>
                    <a:p>
                      <a:pPr algn="l"/>
                      <a:r>
                        <a:rPr sz="900" b="1" i="0" u="none">
                          <a:solidFill>
                            <a:srgbClr val="0F172A"/>
                          </a:solidFill>
                          <a:latin typeface="Inter"/>
                        </a:rPr>
                        <a:t>Rules</a:t>
                      </a:r>
                    </a:p>
                  </a:txBody>
                  <a:tcPr marL="63500" marR="63500" marT="25400" marB="25400" anchor="ctr">
                    <a:lnL>
                      <a:noFill/>
                    </a:lnL>
                    <a:lnR>
                      <a:noFill/>
                    </a:lnR>
                    <a:lnT>
                      <a:noFill/>
                    </a:lnT>
                    <a:lnB>
                      <a:noFill/>
                    </a:lnB>
                    <a:noFill/>
                  </a:tcPr>
                </a:tc>
                <a:tc>
                  <a:txBody>
                    <a:bodyPr/>
                    <a:lstStyle/>
                    <a:p>
                      <a:pPr algn="l"/>
                      <a:r>
                        <a:rPr sz="900" b="0" i="0" u="none">
                          <a:solidFill>
                            <a:srgbClr val="64748B"/>
                          </a:solidFill>
                          <a:latin typeface="Inter"/>
                        </a:rPr>
                        <a:t>Hard-coded in the script</a:t>
                      </a:r>
                    </a:p>
                  </a:txBody>
                  <a:tcPr marL="63500" marR="63500" marT="25400" marB="25400" anchor="ctr">
                    <a:lnL>
                      <a:noFill/>
                    </a:lnL>
                    <a:lnR>
                      <a:noFill/>
                    </a:lnR>
                    <a:lnT>
                      <a:noFill/>
                    </a:lnT>
                    <a:lnB>
                      <a:noFill/>
                    </a:lnB>
                    <a:noFill/>
                  </a:tcPr>
                </a:tc>
                <a:tc>
                  <a:txBody>
                    <a:bodyPr/>
                    <a:lstStyle/>
                    <a:p>
                      <a:pPr algn="l"/>
                      <a:r>
                        <a:rPr sz="900" b="1" i="0" u="none">
                          <a:solidFill>
                            <a:srgbClr val="1E3A8A"/>
                          </a:solidFill>
                          <a:latin typeface="Inter"/>
                        </a:rPr>
                        <a:t>Editable YAML, no code change needed</a:t>
                      </a:r>
                    </a:p>
                  </a:txBody>
                  <a:tcPr marL="63500" marR="63500" marT="25400" marB="25400" anchor="ctr">
                    <a:lnL>
                      <a:noFill/>
                    </a:lnL>
                    <a:lnR>
                      <a:noFill/>
                    </a:lnR>
                    <a:lnT>
                      <a:noFill/>
                    </a:lnT>
                    <a:lnB>
                      <a:noFill/>
                    </a:lnB>
                    <a:solidFill>
                      <a:srgbClr val="EFF6FF">
                        <a:alpha val="40000"/>
                      </a:srgbClr>
                    </a:solidFill>
                  </a:tcPr>
                </a:tc>
                <a:extLst>
                  <a:ext uri="{0D108BD9-81ED-4DB2-BD59-A6C34878D82A}">
                    <a16:rowId xmlns:a16="http://schemas.microsoft.com/office/drawing/2014/main" val="10002"/>
                  </a:ext>
                </a:extLst>
              </a:tr>
              <a:tr h="382587">
                <a:tc>
                  <a:txBody>
                    <a:bodyPr/>
                    <a:lstStyle/>
                    <a:p>
                      <a:pPr algn="l"/>
                      <a:r>
                        <a:rPr sz="900" b="1" i="0" u="none">
                          <a:solidFill>
                            <a:srgbClr val="0F172A"/>
                          </a:solidFill>
                          <a:latin typeface="Inter"/>
                        </a:rPr>
                        <a:t>Metadata</a:t>
                      </a:r>
                    </a:p>
                  </a:txBody>
                  <a:tcPr marL="63500" marR="63500" marT="25400" marB="25400" anchor="ctr">
                    <a:lnL>
                      <a:noFill/>
                    </a:lnL>
                    <a:lnR>
                      <a:noFill/>
                    </a:lnR>
                    <a:lnT>
                      <a:noFill/>
                    </a:lnT>
                    <a:lnB>
                      <a:noFill/>
                    </a:lnB>
                    <a:noFill/>
                  </a:tcPr>
                </a:tc>
                <a:tc>
                  <a:txBody>
                    <a:bodyPr/>
                    <a:lstStyle/>
                    <a:p>
                      <a:pPr algn="l"/>
                      <a:r>
                        <a:rPr sz="900" b="0" i="0" u="none">
                          <a:solidFill>
                            <a:srgbClr val="64748B"/>
                          </a:solidFill>
                          <a:latin typeface="Inter"/>
                        </a:rPr>
                        <a:t>Purpose and retention scattered or undocumented</a:t>
                      </a:r>
                    </a:p>
                  </a:txBody>
                  <a:tcPr marL="63500" marR="63500" marT="25400" marB="25400" anchor="ctr">
                    <a:lnL>
                      <a:noFill/>
                    </a:lnL>
                    <a:lnR>
                      <a:noFill/>
                    </a:lnR>
                    <a:lnT>
                      <a:noFill/>
                    </a:lnT>
                    <a:lnB>
                      <a:noFill/>
                    </a:lnB>
                    <a:noFill/>
                  </a:tcPr>
                </a:tc>
                <a:tc>
                  <a:txBody>
                    <a:bodyPr/>
                    <a:lstStyle/>
                    <a:p>
                      <a:pPr algn="l"/>
                      <a:r>
                        <a:rPr sz="900" b="1" i="0" u="none">
                          <a:solidFill>
                            <a:srgbClr val="1E3A8A"/>
                          </a:solidFill>
                          <a:latin typeface="Inter"/>
                        </a:rPr>
                        <a:t>Linked to each field in one inventory</a:t>
                      </a:r>
                    </a:p>
                  </a:txBody>
                  <a:tcPr marL="63500" marR="63500" marT="25400" marB="25400" anchor="ctr">
                    <a:lnL>
                      <a:noFill/>
                    </a:lnL>
                    <a:lnR>
                      <a:noFill/>
                    </a:lnR>
                    <a:lnT>
                      <a:noFill/>
                    </a:lnT>
                    <a:lnB>
                      <a:noFill/>
                    </a:lnB>
                    <a:solidFill>
                      <a:srgbClr val="EFF6FF">
                        <a:alpha val="40000"/>
                      </a:srgbClr>
                    </a:solidFill>
                  </a:tcPr>
                </a:tc>
                <a:extLst>
                  <a:ext uri="{0D108BD9-81ED-4DB2-BD59-A6C34878D82A}">
                    <a16:rowId xmlns:a16="http://schemas.microsoft.com/office/drawing/2014/main" val="10003"/>
                  </a:ext>
                </a:extLst>
              </a:tr>
              <a:tr h="382587">
                <a:tc>
                  <a:txBody>
                    <a:bodyPr/>
                    <a:lstStyle/>
                    <a:p>
                      <a:pPr algn="l"/>
                      <a:r>
                        <a:rPr sz="900" b="1" i="0" u="none">
                          <a:solidFill>
                            <a:srgbClr val="0F172A"/>
                          </a:solidFill>
                          <a:latin typeface="Inter"/>
                        </a:rPr>
                        <a:t>Gaps</a:t>
                      </a:r>
                    </a:p>
                  </a:txBody>
                  <a:tcPr marL="63500" marR="63500" marT="25400" marB="25400" anchor="ctr">
                    <a:lnL>
                      <a:noFill/>
                    </a:lnL>
                    <a:lnR>
                      <a:noFill/>
                    </a:lnR>
                    <a:lnT>
                      <a:noFill/>
                    </a:lnT>
                    <a:lnB>
                      <a:noFill/>
                    </a:lnB>
                    <a:noFill/>
                  </a:tcPr>
                </a:tc>
                <a:tc>
                  <a:txBody>
                    <a:bodyPr/>
                    <a:lstStyle/>
                    <a:p>
                      <a:pPr algn="l"/>
                      <a:r>
                        <a:rPr sz="900" b="0" i="0" u="none">
                          <a:solidFill>
                            <a:srgbClr val="64748B"/>
                          </a:solidFill>
                          <a:latin typeface="Inter"/>
                        </a:rPr>
                        <a:t>Found by manual audit</a:t>
                      </a:r>
                    </a:p>
                  </a:txBody>
                  <a:tcPr marL="63500" marR="63500" marT="25400" marB="25400" anchor="ctr">
                    <a:lnL>
                      <a:noFill/>
                    </a:lnL>
                    <a:lnR>
                      <a:noFill/>
                    </a:lnR>
                    <a:lnT>
                      <a:noFill/>
                    </a:lnT>
                    <a:lnB>
                      <a:noFill/>
                    </a:lnB>
                    <a:noFill/>
                  </a:tcPr>
                </a:tc>
                <a:tc>
                  <a:txBody>
                    <a:bodyPr/>
                    <a:lstStyle/>
                    <a:p>
                      <a:pPr algn="l"/>
                      <a:r>
                        <a:rPr sz="900" b="1" i="0" u="none">
                          <a:solidFill>
                            <a:srgbClr val="1E3A8A"/>
                          </a:solidFill>
                          <a:latin typeface="Inter"/>
                        </a:rPr>
                        <a:t>Missing purpose or retention flagged automatically</a:t>
                      </a:r>
                    </a:p>
                  </a:txBody>
                  <a:tcPr marL="63500" marR="63500" marT="25400" marB="25400" anchor="ctr">
                    <a:lnL>
                      <a:noFill/>
                    </a:lnL>
                    <a:lnR>
                      <a:noFill/>
                    </a:lnR>
                    <a:lnT>
                      <a:noFill/>
                    </a:lnT>
                    <a:lnB>
                      <a:noFill/>
                    </a:lnB>
                    <a:solidFill>
                      <a:srgbClr val="EFF6FF">
                        <a:alpha val="40000"/>
                      </a:srgbClr>
                    </a:solidFill>
                  </a:tcPr>
                </a:tc>
                <a:extLst>
                  <a:ext uri="{0D108BD9-81ED-4DB2-BD59-A6C34878D82A}">
                    <a16:rowId xmlns:a16="http://schemas.microsoft.com/office/drawing/2014/main" val="10004"/>
                  </a:ext>
                </a:extLst>
              </a:tr>
              <a:tr h="382590">
                <a:tc>
                  <a:txBody>
                    <a:bodyPr/>
                    <a:lstStyle/>
                    <a:p>
                      <a:pPr algn="l"/>
                      <a:r>
                        <a:rPr sz="900" b="1" i="0" u="none">
                          <a:solidFill>
                            <a:srgbClr val="0F172A"/>
                          </a:solidFill>
                          <a:latin typeface="Inter"/>
                        </a:rPr>
                        <a:t>Quality</a:t>
                      </a:r>
                    </a:p>
                  </a:txBody>
                  <a:tcPr marL="63500" marR="63500" marT="25400" marB="25400" anchor="ctr">
                    <a:lnL>
                      <a:noFill/>
                    </a:lnL>
                    <a:lnR>
                      <a:noFill/>
                    </a:lnR>
                    <a:lnT>
                      <a:noFill/>
                    </a:lnT>
                    <a:lnB>
                      <a:noFill/>
                    </a:lnB>
                    <a:noFill/>
                  </a:tcPr>
                </a:tc>
                <a:tc>
                  <a:txBody>
                    <a:bodyPr/>
                    <a:lstStyle/>
                    <a:p>
                      <a:pPr algn="l"/>
                      <a:r>
                        <a:rPr sz="900" b="0" i="0" u="none">
                          <a:solidFill>
                            <a:srgbClr val="64748B"/>
                          </a:solidFill>
                          <a:latin typeface="Inter"/>
                        </a:rPr>
                        <a:t>Not measured</a:t>
                      </a:r>
                    </a:p>
                  </a:txBody>
                  <a:tcPr marL="63500" marR="63500" marT="25400" marB="25400" anchor="ctr">
                    <a:lnL>
                      <a:noFill/>
                    </a:lnL>
                    <a:lnR>
                      <a:noFill/>
                    </a:lnR>
                    <a:lnT>
                      <a:noFill/>
                    </a:lnT>
                    <a:lnB>
                      <a:noFill/>
                    </a:lnB>
                    <a:noFill/>
                  </a:tcPr>
                </a:tc>
                <a:tc>
                  <a:txBody>
                    <a:bodyPr/>
                    <a:lstStyle/>
                    <a:p>
                      <a:pPr algn="l"/>
                      <a:r>
                        <a:rPr sz="900" b="1" i="0" u="none">
                          <a:solidFill>
                            <a:srgbClr val="1E3A8A"/>
                          </a:solidFill>
                          <a:latin typeface="Inter"/>
                        </a:rPr>
                        <a:t>Per-class precision and recall on a hand-labelled set</a:t>
                      </a:r>
                    </a:p>
                  </a:txBody>
                  <a:tcPr marL="63500" marR="63500" marT="25400" marB="25400" anchor="ctr">
                    <a:lnL>
                      <a:noFill/>
                    </a:lnL>
                    <a:lnR>
                      <a:noFill/>
                    </a:lnR>
                    <a:lnT>
                      <a:noFill/>
                    </a:lnT>
                    <a:lnB>
                      <a:noFill/>
                    </a:lnB>
                    <a:solidFill>
                      <a:srgbClr val="EFF6FF">
                        <a:alpha val="40000"/>
                      </a:srgbClr>
                    </a:solidFill>
                  </a:tcPr>
                </a:tc>
                <a:extLst>
                  <a:ext uri="{0D108BD9-81ED-4DB2-BD59-A6C34878D82A}">
                    <a16:rowId xmlns:a16="http://schemas.microsoft.com/office/drawing/2014/main" val="10005"/>
                  </a:ext>
                </a:extLst>
              </a:tr>
            </a:tbl>
          </a:graphicData>
        </a:graphic>
      </p:graphicFrame>
      <p:pic>
        <p:nvPicPr>
          <p:cNvPr id="15" name="Picture 14" descr="image.png"/>
          <p:cNvPicPr>
            <a:picLocks noChangeAspect="1"/>
          </p:cNvPicPr>
          <p:nvPr/>
        </p:nvPicPr>
        <p:blipFill>
          <a:blip r:embed="rId2"/>
          <a:stretch>
            <a:fillRect/>
          </a:stretch>
        </p:blipFill>
        <p:spPr>
          <a:xfrm>
            <a:off x="409575" y="6076950"/>
            <a:ext cx="104775" cy="114300"/>
          </a:xfrm>
          <a:prstGeom prst="rect">
            <a:avLst/>
          </a:prstGeom>
        </p:spPr>
      </p:pic>
      <p:sp>
        <p:nvSpPr>
          <p:cNvPr id="16" name="TextBox 15"/>
          <p:cNvSpPr txBox="1"/>
          <p:nvPr/>
        </p:nvSpPr>
        <p:spPr>
          <a:xfrm>
            <a:off x="590550" y="6057900"/>
            <a:ext cx="9387363" cy="152400"/>
          </a:xfrm>
          <a:prstGeom prst="rect">
            <a:avLst/>
          </a:prstGeom>
          <a:noFill/>
        </p:spPr>
        <p:txBody>
          <a:bodyPr wrap="square" lIns="0" tIns="0" rIns="0" bIns="0" anchor="t">
            <a:spAutoFit/>
          </a:bodyPr>
          <a:lstStyle/>
          <a:p>
            <a:pPr algn="l">
              <a:lnSpc>
                <a:spcPts val="1200"/>
              </a:lnSpc>
            </a:pPr>
            <a:r>
              <a:rPr sz="900" b="1" i="0" u="none">
                <a:solidFill>
                  <a:srgbClr val="1E293B"/>
                </a:solidFill>
                <a:latin typeface="Inter"/>
              </a:rPr>
              <a:t>Key Engineering Impact:</a:t>
            </a:r>
            <a:r>
              <a:rPr sz="900" b="0" i="0" u="none">
                <a:solidFill>
                  <a:srgbClr val="475569"/>
                </a:solidFill>
                <a:latin typeface="Inter"/>
              </a:rPr>
              <a:t> Eliminates hard-coded assumptions by decoupling detection logic into declarative configuration and formal metric evaluation.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04800" y="1285875"/>
            <a:ext cx="2809875" cy="247650"/>
          </a:xfrm>
          <a:prstGeom prst="rect">
            <a:avLst/>
          </a:prstGeom>
        </p:spPr>
      </p:pic>
      <p:pic>
        <p:nvPicPr>
          <p:cNvPr id="3" name="Picture 2" descr="image.png"/>
          <p:cNvPicPr>
            <a:picLocks noChangeAspect="1"/>
          </p:cNvPicPr>
          <p:nvPr/>
        </p:nvPicPr>
        <p:blipFill>
          <a:blip r:embed="rId3"/>
          <a:stretch>
            <a:fillRect/>
          </a:stretch>
        </p:blipFill>
        <p:spPr>
          <a:xfrm>
            <a:off x="304800" y="1628775"/>
            <a:ext cx="2809875" cy="1397049"/>
          </a:xfrm>
          <a:prstGeom prst="rect">
            <a:avLst/>
          </a:prstGeom>
        </p:spPr>
      </p:pic>
      <p:pic>
        <p:nvPicPr>
          <p:cNvPr id="4" name="Picture 3" descr="image.png"/>
          <p:cNvPicPr>
            <a:picLocks noChangeAspect="1"/>
          </p:cNvPicPr>
          <p:nvPr/>
        </p:nvPicPr>
        <p:blipFill>
          <a:blip r:embed="rId4"/>
          <a:stretch>
            <a:fillRect/>
          </a:stretch>
        </p:blipFill>
        <p:spPr>
          <a:xfrm>
            <a:off x="304800" y="3121074"/>
            <a:ext cx="2809875" cy="1397049"/>
          </a:xfrm>
          <a:prstGeom prst="rect">
            <a:avLst/>
          </a:prstGeom>
        </p:spPr>
      </p:pic>
      <p:pic>
        <p:nvPicPr>
          <p:cNvPr id="5" name="Picture 4" descr="image.png"/>
          <p:cNvPicPr>
            <a:picLocks noChangeAspect="1"/>
          </p:cNvPicPr>
          <p:nvPr/>
        </p:nvPicPr>
        <p:blipFill>
          <a:blip r:embed="rId5"/>
          <a:stretch>
            <a:fillRect/>
          </a:stretch>
        </p:blipFill>
        <p:spPr>
          <a:xfrm>
            <a:off x="304800" y="4613374"/>
            <a:ext cx="2809875" cy="1397049"/>
          </a:xfrm>
          <a:prstGeom prst="rect">
            <a:avLst/>
          </a:prstGeom>
        </p:spPr>
      </p:pic>
      <p:pic>
        <p:nvPicPr>
          <p:cNvPr id="6" name="Picture 5" descr="image.png"/>
          <p:cNvPicPr>
            <a:picLocks noChangeAspect="1"/>
          </p:cNvPicPr>
          <p:nvPr/>
        </p:nvPicPr>
        <p:blipFill>
          <a:blip r:embed="rId6"/>
          <a:stretch>
            <a:fillRect/>
          </a:stretch>
        </p:blipFill>
        <p:spPr>
          <a:xfrm>
            <a:off x="4308425" y="1390650"/>
            <a:ext cx="3575000" cy="247650"/>
          </a:xfrm>
          <a:prstGeom prst="rect">
            <a:avLst/>
          </a:prstGeom>
        </p:spPr>
      </p:pic>
      <p:pic>
        <p:nvPicPr>
          <p:cNvPr id="7" name="Picture 6" descr="image.png"/>
          <p:cNvPicPr>
            <a:picLocks noChangeAspect="1"/>
          </p:cNvPicPr>
          <p:nvPr/>
        </p:nvPicPr>
        <p:blipFill>
          <a:blip r:embed="rId7"/>
          <a:stretch>
            <a:fillRect/>
          </a:stretch>
        </p:blipFill>
        <p:spPr>
          <a:xfrm>
            <a:off x="4308425" y="1926728"/>
            <a:ext cx="3575000" cy="447675"/>
          </a:xfrm>
          <a:prstGeom prst="rect">
            <a:avLst/>
          </a:prstGeom>
        </p:spPr>
      </p:pic>
      <p:pic>
        <p:nvPicPr>
          <p:cNvPr id="8" name="Picture 7" descr="image.png"/>
          <p:cNvPicPr>
            <a:picLocks noChangeAspect="1"/>
          </p:cNvPicPr>
          <p:nvPr/>
        </p:nvPicPr>
        <p:blipFill>
          <a:blip r:embed="rId7"/>
          <a:stretch>
            <a:fillRect/>
          </a:stretch>
        </p:blipFill>
        <p:spPr>
          <a:xfrm>
            <a:off x="4308425" y="3103661"/>
            <a:ext cx="3575000" cy="447675"/>
          </a:xfrm>
          <a:prstGeom prst="rect">
            <a:avLst/>
          </a:prstGeom>
        </p:spPr>
      </p:pic>
      <p:pic>
        <p:nvPicPr>
          <p:cNvPr id="9" name="Picture 8" descr="image.png"/>
          <p:cNvPicPr>
            <a:picLocks noChangeAspect="1"/>
          </p:cNvPicPr>
          <p:nvPr/>
        </p:nvPicPr>
        <p:blipFill>
          <a:blip r:embed="rId7"/>
          <a:stretch>
            <a:fillRect/>
          </a:stretch>
        </p:blipFill>
        <p:spPr>
          <a:xfrm>
            <a:off x="4308425" y="4280594"/>
            <a:ext cx="3575000" cy="447675"/>
          </a:xfrm>
          <a:prstGeom prst="rect">
            <a:avLst/>
          </a:prstGeom>
        </p:spPr>
      </p:pic>
      <p:pic>
        <p:nvPicPr>
          <p:cNvPr id="10" name="Picture 9" descr="image.png"/>
          <p:cNvPicPr>
            <a:picLocks noChangeAspect="1"/>
          </p:cNvPicPr>
          <p:nvPr/>
        </p:nvPicPr>
        <p:blipFill>
          <a:blip r:embed="rId7"/>
          <a:stretch>
            <a:fillRect/>
          </a:stretch>
        </p:blipFill>
        <p:spPr>
          <a:xfrm>
            <a:off x="4308425" y="5457527"/>
            <a:ext cx="3575000" cy="447675"/>
          </a:xfrm>
          <a:prstGeom prst="rect">
            <a:avLst/>
          </a:prstGeom>
        </p:spPr>
      </p:pic>
      <p:pic>
        <p:nvPicPr>
          <p:cNvPr id="11" name="Picture 10" descr="image.png"/>
          <p:cNvPicPr>
            <a:picLocks noChangeAspect="1"/>
          </p:cNvPicPr>
          <p:nvPr/>
        </p:nvPicPr>
        <p:blipFill>
          <a:blip r:embed="rId8"/>
          <a:stretch>
            <a:fillRect/>
          </a:stretch>
        </p:blipFill>
        <p:spPr>
          <a:xfrm>
            <a:off x="9077325" y="1285875"/>
            <a:ext cx="2809875" cy="247650"/>
          </a:xfrm>
          <a:prstGeom prst="rect">
            <a:avLst/>
          </a:prstGeom>
        </p:spPr>
      </p:pic>
      <p:pic>
        <p:nvPicPr>
          <p:cNvPr id="12" name="Picture 11" descr="image.png"/>
          <p:cNvPicPr>
            <a:picLocks noChangeAspect="1"/>
          </p:cNvPicPr>
          <p:nvPr/>
        </p:nvPicPr>
        <p:blipFill>
          <a:blip r:embed="rId9"/>
          <a:stretch>
            <a:fillRect/>
          </a:stretch>
        </p:blipFill>
        <p:spPr>
          <a:xfrm>
            <a:off x="9077325" y="2397025"/>
            <a:ext cx="2809875" cy="523875"/>
          </a:xfrm>
          <a:prstGeom prst="rect">
            <a:avLst/>
          </a:prstGeom>
        </p:spPr>
      </p:pic>
      <p:pic>
        <p:nvPicPr>
          <p:cNvPr id="13" name="Picture 12" descr="image.png"/>
          <p:cNvPicPr>
            <a:picLocks noChangeAspect="1"/>
          </p:cNvPicPr>
          <p:nvPr/>
        </p:nvPicPr>
        <p:blipFill>
          <a:blip r:embed="rId10"/>
          <a:stretch>
            <a:fillRect/>
          </a:stretch>
        </p:blipFill>
        <p:spPr>
          <a:xfrm>
            <a:off x="9077325" y="3784401"/>
            <a:ext cx="2809875" cy="523875"/>
          </a:xfrm>
          <a:prstGeom prst="rect">
            <a:avLst/>
          </a:prstGeom>
        </p:spPr>
      </p:pic>
      <p:sp>
        <p:nvSpPr>
          <p:cNvPr id="14" name="Rounded Rectangle 13"/>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203650" y="1285875"/>
            <a:ext cx="3784550" cy="4724400"/>
          </a:xfrm>
          <a:prstGeom prst="roundRect">
            <a:avLst>
              <a:gd name="adj" fmla="val 3020"/>
            </a:avLst>
          </a:prstGeom>
          <a:solidFill>
            <a:srgbClr val="EFF6FF">
              <a:alpha val="40000"/>
            </a:srgbClr>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9077325" y="5171777"/>
            <a:ext cx="2809875" cy="838200"/>
          </a:xfrm>
          <a:prstGeom prst="roundRect">
            <a:avLst>
              <a:gd name="adj" fmla="val 9090"/>
            </a:avLst>
          </a:prstGeom>
          <a:solidFill>
            <a:srgbClr val="F8FAFC"/>
          </a:solidFill>
          <a:ln w="1905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191625" y="5619452"/>
            <a:ext cx="2581275" cy="2762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0" y="6162675"/>
            <a:ext cx="12192000" cy="152400"/>
          </a:xfrm>
          <a:prstGeom prst="rect">
            <a:avLst/>
          </a:prstGeom>
          <a:noFill/>
        </p:spPr>
        <p:txBody>
          <a:bodyPr wrap="square" lIns="0" tIns="0" rIns="0" bIns="0" anchor="t">
            <a:spAutoFit/>
          </a:bodyPr>
          <a:lstStyle/>
          <a:p>
            <a:pPr algn="ctr">
              <a:lnSpc>
                <a:spcPts val="1200"/>
              </a:lnSpc>
            </a:pPr>
            <a:r>
              <a:rPr sz="900" b="0" i="0" u="none">
                <a:solidFill>
                  <a:srgbClr val="64748B"/>
                </a:solidFill>
                <a:latin typeface="Inter"/>
              </a:rPr>
              <a:t>Figure: System Architecture UML Diagram</a:t>
            </a:r>
          </a:p>
        </p:txBody>
      </p:sp>
      <p:sp>
        <p:nvSpPr>
          <p:cNvPr id="19" name="TextBox 18"/>
          <p:cNvSpPr txBox="1"/>
          <p:nvPr/>
        </p:nvSpPr>
        <p:spPr>
          <a:xfrm>
            <a:off x="10789741" y="304800"/>
            <a:ext cx="1262077"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System Blueprint</a:t>
            </a:r>
          </a:p>
        </p:txBody>
      </p:sp>
      <p:sp>
        <p:nvSpPr>
          <p:cNvPr id="20" name="TextBox 19"/>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Solution Architecture &amp; Design</a:t>
            </a:r>
          </a:p>
        </p:txBody>
      </p:sp>
      <p:sp>
        <p:nvSpPr>
          <p:cNvPr id="21" name="TextBox 20"/>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Component view: files and rules go in, evidence reports come out.</a:t>
            </a:r>
          </a:p>
        </p:txBody>
      </p:sp>
      <p:sp>
        <p:nvSpPr>
          <p:cNvPr id="22" name="TextBox 21"/>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23" name="TextBox 22"/>
          <p:cNvSpPr txBox="1"/>
          <p:nvPr/>
        </p:nvSpPr>
        <p:spPr>
          <a:xfrm>
            <a:off x="11620500" y="6400800"/>
            <a:ext cx="306705"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7 / 11</a:t>
            </a:r>
          </a:p>
        </p:txBody>
      </p:sp>
      <p:sp>
        <p:nvSpPr>
          <p:cNvPr id="24" name="TextBox 23"/>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25" name="TextBox 24"/>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26" name="TextBox 25"/>
          <p:cNvSpPr txBox="1"/>
          <p:nvPr/>
        </p:nvSpPr>
        <p:spPr>
          <a:xfrm>
            <a:off x="944909" y="304800"/>
            <a:ext cx="2267426"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Architecture Design (UML Diagram)</a:t>
            </a:r>
          </a:p>
        </p:txBody>
      </p:sp>
      <p:pic>
        <p:nvPicPr>
          <p:cNvPr id="27" name="Picture 26" descr="image.png"/>
          <p:cNvPicPr>
            <a:picLocks noChangeAspect="1"/>
          </p:cNvPicPr>
          <p:nvPr/>
        </p:nvPicPr>
        <p:blipFill>
          <a:blip r:embed="rId11"/>
          <a:stretch>
            <a:fillRect/>
          </a:stretch>
        </p:blipFill>
        <p:spPr>
          <a:xfrm>
            <a:off x="3592413" y="1996975"/>
            <a:ext cx="133350" cy="152400"/>
          </a:xfrm>
          <a:prstGeom prst="rect">
            <a:avLst/>
          </a:prstGeom>
        </p:spPr>
      </p:pic>
      <p:pic>
        <p:nvPicPr>
          <p:cNvPr id="28" name="Picture 27" descr="image.png"/>
          <p:cNvPicPr>
            <a:picLocks noChangeAspect="1"/>
          </p:cNvPicPr>
          <p:nvPr/>
        </p:nvPicPr>
        <p:blipFill>
          <a:blip r:embed="rId11"/>
          <a:stretch>
            <a:fillRect/>
          </a:stretch>
        </p:blipFill>
        <p:spPr>
          <a:xfrm>
            <a:off x="3592413" y="3571726"/>
            <a:ext cx="133350" cy="152400"/>
          </a:xfrm>
          <a:prstGeom prst="rect">
            <a:avLst/>
          </a:prstGeom>
        </p:spPr>
      </p:pic>
      <p:pic>
        <p:nvPicPr>
          <p:cNvPr id="29" name="Picture 28" descr="image.png"/>
          <p:cNvPicPr>
            <a:picLocks noChangeAspect="1"/>
          </p:cNvPicPr>
          <p:nvPr/>
        </p:nvPicPr>
        <p:blipFill>
          <a:blip r:embed="rId12"/>
          <a:stretch>
            <a:fillRect/>
          </a:stretch>
        </p:blipFill>
        <p:spPr>
          <a:xfrm>
            <a:off x="3592413" y="5146476"/>
            <a:ext cx="133350" cy="152400"/>
          </a:xfrm>
          <a:prstGeom prst="rect">
            <a:avLst/>
          </a:prstGeom>
        </p:spPr>
      </p:pic>
      <p:pic>
        <p:nvPicPr>
          <p:cNvPr id="30" name="Picture 29" descr="image.png"/>
          <p:cNvPicPr>
            <a:picLocks noChangeAspect="1"/>
          </p:cNvPicPr>
          <p:nvPr/>
        </p:nvPicPr>
        <p:blipFill>
          <a:blip r:embed="rId13"/>
          <a:stretch>
            <a:fillRect/>
          </a:stretch>
        </p:blipFill>
        <p:spPr>
          <a:xfrm>
            <a:off x="8466087" y="2390775"/>
            <a:ext cx="133350" cy="152400"/>
          </a:xfrm>
          <a:prstGeom prst="rect">
            <a:avLst/>
          </a:prstGeom>
        </p:spPr>
      </p:pic>
      <p:pic>
        <p:nvPicPr>
          <p:cNvPr id="31" name="Picture 30" descr="image.png"/>
          <p:cNvPicPr>
            <a:picLocks noChangeAspect="1"/>
          </p:cNvPicPr>
          <p:nvPr/>
        </p:nvPicPr>
        <p:blipFill>
          <a:blip r:embed="rId13"/>
          <a:stretch>
            <a:fillRect/>
          </a:stretch>
        </p:blipFill>
        <p:spPr>
          <a:xfrm>
            <a:off x="8466087" y="4752975"/>
            <a:ext cx="133350" cy="152400"/>
          </a:xfrm>
          <a:prstGeom prst="rect">
            <a:avLst/>
          </a:prstGeom>
        </p:spPr>
      </p:pic>
      <p:sp>
        <p:nvSpPr>
          <p:cNvPr id="32" name="TextBox 31"/>
          <p:cNvSpPr txBox="1"/>
          <p:nvPr/>
        </p:nvSpPr>
        <p:spPr>
          <a:xfrm>
            <a:off x="247411" y="2162919"/>
            <a:ext cx="2924651" cy="152400"/>
          </a:xfrm>
          <a:prstGeom prst="rect">
            <a:avLst/>
          </a:prstGeom>
          <a:noFill/>
        </p:spPr>
        <p:txBody>
          <a:bodyPr wrap="square" lIns="0" tIns="0" rIns="0" bIns="0" anchor="t">
            <a:spAutoFit/>
          </a:bodyPr>
          <a:lstStyle/>
          <a:p>
            <a:pPr algn="ctr">
              <a:lnSpc>
                <a:spcPts val="1200"/>
              </a:lnSpc>
            </a:pPr>
            <a:r>
              <a:rPr sz="900" b="1" i="0" u="none">
                <a:solidFill>
                  <a:srgbClr val="0F172A"/>
                </a:solidFill>
                <a:latin typeface="Inter"/>
              </a:rPr>
              <a:t>Data sources</a:t>
            </a:r>
          </a:p>
        </p:txBody>
      </p:sp>
      <p:sp>
        <p:nvSpPr>
          <p:cNvPr id="33" name="TextBox 32"/>
          <p:cNvSpPr txBox="1"/>
          <p:nvPr/>
        </p:nvSpPr>
        <p:spPr>
          <a:xfrm>
            <a:off x="247411" y="2334369"/>
            <a:ext cx="2924651" cy="157162"/>
          </a:xfrm>
          <a:prstGeom prst="rect">
            <a:avLst/>
          </a:prstGeom>
          <a:noFill/>
        </p:spPr>
        <p:txBody>
          <a:bodyPr wrap="square" lIns="0" tIns="0" rIns="0" bIns="0" anchor="t">
            <a:spAutoFit/>
          </a:bodyPr>
          <a:lstStyle/>
          <a:p>
            <a:pPr algn="ctr">
              <a:lnSpc>
                <a:spcPts val="1237"/>
              </a:lnSpc>
            </a:pPr>
            <a:r>
              <a:rPr sz="825" b="0" i="0" u="none">
                <a:solidFill>
                  <a:srgbClr val="64748B"/>
                </a:solidFill>
                <a:latin typeface="Inter"/>
              </a:rPr>
              <a:t>CSV files + SQLite DB</a:t>
            </a:r>
          </a:p>
        </p:txBody>
      </p:sp>
      <p:sp>
        <p:nvSpPr>
          <p:cNvPr id="34" name="TextBox 33"/>
          <p:cNvSpPr txBox="1"/>
          <p:nvPr/>
        </p:nvSpPr>
        <p:spPr>
          <a:xfrm>
            <a:off x="247411" y="3655218"/>
            <a:ext cx="2924651" cy="152400"/>
          </a:xfrm>
          <a:prstGeom prst="rect">
            <a:avLst/>
          </a:prstGeom>
          <a:noFill/>
        </p:spPr>
        <p:txBody>
          <a:bodyPr wrap="square" lIns="0" tIns="0" rIns="0" bIns="0" anchor="t">
            <a:spAutoFit/>
          </a:bodyPr>
          <a:lstStyle/>
          <a:p>
            <a:pPr algn="ctr">
              <a:lnSpc>
                <a:spcPts val="1200"/>
              </a:lnSpc>
            </a:pPr>
            <a:r>
              <a:rPr sz="900" b="1" i="0" u="none">
                <a:solidFill>
                  <a:srgbClr val="0F172A"/>
                </a:solidFill>
                <a:latin typeface="Inter"/>
              </a:rPr>
              <a:t>Rule config</a:t>
            </a:r>
          </a:p>
        </p:txBody>
      </p:sp>
      <p:sp>
        <p:nvSpPr>
          <p:cNvPr id="35" name="TextBox 34"/>
          <p:cNvSpPr txBox="1"/>
          <p:nvPr/>
        </p:nvSpPr>
        <p:spPr>
          <a:xfrm>
            <a:off x="247411" y="3826668"/>
            <a:ext cx="2924651" cy="157162"/>
          </a:xfrm>
          <a:prstGeom prst="rect">
            <a:avLst/>
          </a:prstGeom>
          <a:noFill/>
        </p:spPr>
        <p:txBody>
          <a:bodyPr wrap="square" lIns="0" tIns="0" rIns="0" bIns="0" anchor="t">
            <a:spAutoFit/>
          </a:bodyPr>
          <a:lstStyle/>
          <a:p>
            <a:pPr algn="ctr">
              <a:lnSpc>
                <a:spcPts val="1237"/>
              </a:lnSpc>
            </a:pPr>
            <a:r>
              <a:rPr sz="825" b="0" i="0" u="none">
                <a:solidFill>
                  <a:srgbClr val="64748B"/>
                </a:solidFill>
                <a:latin typeface="Inter"/>
              </a:rPr>
              <a:t>YAML rules</a:t>
            </a:r>
          </a:p>
        </p:txBody>
      </p:sp>
      <p:sp>
        <p:nvSpPr>
          <p:cNvPr id="36" name="TextBox 35"/>
          <p:cNvSpPr txBox="1"/>
          <p:nvPr/>
        </p:nvSpPr>
        <p:spPr>
          <a:xfrm>
            <a:off x="247411" y="5147518"/>
            <a:ext cx="2924651" cy="152400"/>
          </a:xfrm>
          <a:prstGeom prst="rect">
            <a:avLst/>
          </a:prstGeom>
          <a:noFill/>
        </p:spPr>
        <p:txBody>
          <a:bodyPr wrap="square" lIns="0" tIns="0" rIns="0" bIns="0" anchor="t">
            <a:spAutoFit/>
          </a:bodyPr>
          <a:lstStyle/>
          <a:p>
            <a:pPr algn="ctr">
              <a:lnSpc>
                <a:spcPts val="1200"/>
              </a:lnSpc>
            </a:pPr>
            <a:r>
              <a:rPr sz="900" b="1" i="0" u="none">
                <a:solidFill>
                  <a:srgbClr val="0F172A"/>
                </a:solidFill>
                <a:latin typeface="Inter"/>
              </a:rPr>
              <a:t>Metadata file</a:t>
            </a:r>
          </a:p>
        </p:txBody>
      </p:sp>
      <p:sp>
        <p:nvSpPr>
          <p:cNvPr id="37" name="TextBox 36"/>
          <p:cNvSpPr txBox="1"/>
          <p:nvPr/>
        </p:nvSpPr>
        <p:spPr>
          <a:xfrm>
            <a:off x="247411" y="5318968"/>
            <a:ext cx="2924651" cy="157162"/>
          </a:xfrm>
          <a:prstGeom prst="rect">
            <a:avLst/>
          </a:prstGeom>
          <a:noFill/>
        </p:spPr>
        <p:txBody>
          <a:bodyPr wrap="square" lIns="0" tIns="0" rIns="0" bIns="0" anchor="t">
            <a:spAutoFit/>
          </a:bodyPr>
          <a:lstStyle/>
          <a:p>
            <a:pPr algn="ctr">
              <a:lnSpc>
                <a:spcPts val="1237"/>
              </a:lnSpc>
            </a:pPr>
            <a:r>
              <a:rPr sz="825" b="0" i="0" u="none">
                <a:solidFill>
                  <a:srgbClr val="64748B"/>
                </a:solidFill>
                <a:latin typeface="Inter"/>
              </a:rPr>
              <a:t>purpose, retention</a:t>
            </a:r>
          </a:p>
        </p:txBody>
      </p:sp>
      <p:sp>
        <p:nvSpPr>
          <p:cNvPr id="38" name="TextBox 37"/>
          <p:cNvSpPr txBox="1"/>
          <p:nvPr/>
        </p:nvSpPr>
        <p:spPr>
          <a:xfrm>
            <a:off x="4127930" y="2002928"/>
            <a:ext cx="3935990" cy="152400"/>
          </a:xfrm>
          <a:prstGeom prst="rect">
            <a:avLst/>
          </a:prstGeom>
          <a:noFill/>
        </p:spPr>
        <p:txBody>
          <a:bodyPr wrap="square" lIns="0" tIns="0" rIns="0" bIns="0" anchor="t">
            <a:spAutoFit/>
          </a:bodyPr>
          <a:lstStyle/>
          <a:p>
            <a:pPr algn="ctr">
              <a:lnSpc>
                <a:spcPts val="1200"/>
              </a:lnSpc>
            </a:pPr>
            <a:r>
              <a:rPr sz="900" b="1" i="0" u="none">
                <a:solidFill>
                  <a:srgbClr val="FFFFFF"/>
                </a:solidFill>
                <a:latin typeface="Inter"/>
              </a:rPr>
              <a:t>Connectors</a:t>
            </a:r>
          </a:p>
        </p:txBody>
      </p:sp>
      <p:sp>
        <p:nvSpPr>
          <p:cNvPr id="39" name="TextBox 38"/>
          <p:cNvSpPr txBox="1"/>
          <p:nvPr/>
        </p:nvSpPr>
        <p:spPr>
          <a:xfrm>
            <a:off x="4127930" y="2155328"/>
            <a:ext cx="3935990" cy="142875"/>
          </a:xfrm>
          <a:prstGeom prst="rect">
            <a:avLst/>
          </a:prstGeom>
          <a:noFill/>
        </p:spPr>
        <p:txBody>
          <a:bodyPr wrap="square" lIns="0" tIns="0" rIns="0" bIns="0" anchor="t">
            <a:spAutoFit/>
          </a:bodyPr>
          <a:lstStyle/>
          <a:p>
            <a:pPr algn="ctr">
              <a:lnSpc>
                <a:spcPts val="1125"/>
              </a:lnSpc>
            </a:pPr>
            <a:r>
              <a:rPr sz="750" b="0" i="0" u="none">
                <a:solidFill>
                  <a:srgbClr val="DBEAFE"/>
                </a:solidFill>
                <a:latin typeface="Inter"/>
              </a:rPr>
              <a:t>read CSV / SQLite</a:t>
            </a:r>
          </a:p>
        </p:txBody>
      </p:sp>
      <p:pic>
        <p:nvPicPr>
          <p:cNvPr id="40" name="Picture 39" descr="image.png"/>
          <p:cNvPicPr>
            <a:picLocks noChangeAspect="1"/>
          </p:cNvPicPr>
          <p:nvPr/>
        </p:nvPicPr>
        <p:blipFill>
          <a:blip r:embed="rId14"/>
          <a:stretch>
            <a:fillRect/>
          </a:stretch>
        </p:blipFill>
        <p:spPr>
          <a:xfrm>
            <a:off x="6052988" y="2681882"/>
            <a:ext cx="85725" cy="114300"/>
          </a:xfrm>
          <a:prstGeom prst="rect">
            <a:avLst/>
          </a:prstGeom>
        </p:spPr>
      </p:pic>
      <p:sp>
        <p:nvSpPr>
          <p:cNvPr id="41" name="TextBox 40"/>
          <p:cNvSpPr txBox="1"/>
          <p:nvPr/>
        </p:nvSpPr>
        <p:spPr>
          <a:xfrm>
            <a:off x="4127930" y="3179861"/>
            <a:ext cx="3935990" cy="152400"/>
          </a:xfrm>
          <a:prstGeom prst="rect">
            <a:avLst/>
          </a:prstGeom>
          <a:noFill/>
        </p:spPr>
        <p:txBody>
          <a:bodyPr wrap="square" lIns="0" tIns="0" rIns="0" bIns="0" anchor="t">
            <a:spAutoFit/>
          </a:bodyPr>
          <a:lstStyle/>
          <a:p>
            <a:pPr algn="ctr">
              <a:lnSpc>
                <a:spcPts val="1200"/>
              </a:lnSpc>
            </a:pPr>
            <a:r>
              <a:rPr sz="900" b="1" i="0" u="none">
                <a:solidFill>
                  <a:srgbClr val="FFFFFF"/>
                </a:solidFill>
                <a:latin typeface="Inter"/>
              </a:rPr>
              <a:t>Sampler</a:t>
            </a:r>
          </a:p>
        </p:txBody>
      </p:sp>
      <p:sp>
        <p:nvSpPr>
          <p:cNvPr id="42" name="TextBox 41"/>
          <p:cNvSpPr txBox="1"/>
          <p:nvPr/>
        </p:nvSpPr>
        <p:spPr>
          <a:xfrm>
            <a:off x="4127930" y="3332261"/>
            <a:ext cx="3935990" cy="142875"/>
          </a:xfrm>
          <a:prstGeom prst="rect">
            <a:avLst/>
          </a:prstGeom>
          <a:noFill/>
        </p:spPr>
        <p:txBody>
          <a:bodyPr wrap="square" lIns="0" tIns="0" rIns="0" bIns="0" anchor="t">
            <a:spAutoFit/>
          </a:bodyPr>
          <a:lstStyle/>
          <a:p>
            <a:pPr algn="ctr">
              <a:lnSpc>
                <a:spcPts val="1125"/>
              </a:lnSpc>
            </a:pPr>
            <a:r>
              <a:rPr sz="750" b="0" i="0" u="none">
                <a:solidFill>
                  <a:srgbClr val="DBEAFE"/>
                </a:solidFill>
                <a:latin typeface="Inter"/>
              </a:rPr>
              <a:t>bounded value sample</a:t>
            </a:r>
          </a:p>
        </p:txBody>
      </p:sp>
      <p:pic>
        <p:nvPicPr>
          <p:cNvPr id="43" name="Picture 42" descr="image.png"/>
          <p:cNvPicPr>
            <a:picLocks noChangeAspect="1"/>
          </p:cNvPicPr>
          <p:nvPr/>
        </p:nvPicPr>
        <p:blipFill>
          <a:blip r:embed="rId14"/>
          <a:stretch>
            <a:fillRect/>
          </a:stretch>
        </p:blipFill>
        <p:spPr>
          <a:xfrm>
            <a:off x="6052988" y="3858815"/>
            <a:ext cx="85725" cy="114300"/>
          </a:xfrm>
          <a:prstGeom prst="rect">
            <a:avLst/>
          </a:prstGeom>
        </p:spPr>
      </p:pic>
      <p:sp>
        <p:nvSpPr>
          <p:cNvPr id="44" name="TextBox 43"/>
          <p:cNvSpPr txBox="1"/>
          <p:nvPr/>
        </p:nvSpPr>
        <p:spPr>
          <a:xfrm>
            <a:off x="4127930" y="4356794"/>
            <a:ext cx="3935990" cy="152400"/>
          </a:xfrm>
          <a:prstGeom prst="rect">
            <a:avLst/>
          </a:prstGeom>
          <a:noFill/>
        </p:spPr>
        <p:txBody>
          <a:bodyPr wrap="square" lIns="0" tIns="0" rIns="0" bIns="0" anchor="t">
            <a:spAutoFit/>
          </a:bodyPr>
          <a:lstStyle/>
          <a:p>
            <a:pPr algn="ctr">
              <a:lnSpc>
                <a:spcPts val="1200"/>
              </a:lnSpc>
            </a:pPr>
            <a:r>
              <a:rPr sz="900" b="1" i="0" u="none">
                <a:solidFill>
                  <a:srgbClr val="FFFFFF"/>
                </a:solidFill>
                <a:latin typeface="Inter"/>
              </a:rPr>
              <a:t>Rule engine</a:t>
            </a:r>
          </a:p>
        </p:txBody>
      </p:sp>
      <p:sp>
        <p:nvSpPr>
          <p:cNvPr id="45" name="TextBox 44"/>
          <p:cNvSpPr txBox="1"/>
          <p:nvPr/>
        </p:nvSpPr>
        <p:spPr>
          <a:xfrm>
            <a:off x="4127930" y="4509194"/>
            <a:ext cx="3935990" cy="142875"/>
          </a:xfrm>
          <a:prstGeom prst="rect">
            <a:avLst/>
          </a:prstGeom>
          <a:noFill/>
        </p:spPr>
        <p:txBody>
          <a:bodyPr wrap="square" lIns="0" tIns="0" rIns="0" bIns="0" anchor="t">
            <a:spAutoFit/>
          </a:bodyPr>
          <a:lstStyle/>
          <a:p>
            <a:pPr algn="ctr">
              <a:lnSpc>
                <a:spcPts val="1125"/>
              </a:lnSpc>
            </a:pPr>
            <a:r>
              <a:rPr sz="750" b="0" i="0" u="none">
                <a:solidFill>
                  <a:srgbClr val="DBEAFE"/>
                </a:solidFill>
                <a:latin typeface="Inter"/>
              </a:rPr>
              <a:t>name + pattern + validator</a:t>
            </a:r>
          </a:p>
        </p:txBody>
      </p:sp>
      <p:pic>
        <p:nvPicPr>
          <p:cNvPr id="46" name="Picture 45" descr="image.png"/>
          <p:cNvPicPr>
            <a:picLocks noChangeAspect="1"/>
          </p:cNvPicPr>
          <p:nvPr/>
        </p:nvPicPr>
        <p:blipFill>
          <a:blip r:embed="rId14"/>
          <a:stretch>
            <a:fillRect/>
          </a:stretch>
        </p:blipFill>
        <p:spPr>
          <a:xfrm>
            <a:off x="6052988" y="5035748"/>
            <a:ext cx="85725" cy="114300"/>
          </a:xfrm>
          <a:prstGeom prst="rect">
            <a:avLst/>
          </a:prstGeom>
        </p:spPr>
      </p:pic>
      <p:sp>
        <p:nvSpPr>
          <p:cNvPr id="47" name="TextBox 46"/>
          <p:cNvSpPr txBox="1"/>
          <p:nvPr/>
        </p:nvSpPr>
        <p:spPr>
          <a:xfrm>
            <a:off x="4127930" y="5533727"/>
            <a:ext cx="3935990" cy="152400"/>
          </a:xfrm>
          <a:prstGeom prst="rect">
            <a:avLst/>
          </a:prstGeom>
          <a:noFill/>
        </p:spPr>
        <p:txBody>
          <a:bodyPr wrap="square" lIns="0" tIns="0" rIns="0" bIns="0" anchor="t">
            <a:spAutoFit/>
          </a:bodyPr>
          <a:lstStyle/>
          <a:p>
            <a:pPr algn="ctr">
              <a:lnSpc>
                <a:spcPts val="1200"/>
              </a:lnSpc>
            </a:pPr>
            <a:r>
              <a:rPr sz="900" b="1" i="0" u="none">
                <a:solidFill>
                  <a:srgbClr val="FFFFFF"/>
                </a:solidFill>
                <a:latin typeface="Inter"/>
              </a:rPr>
              <a:t>Linker</a:t>
            </a:r>
          </a:p>
        </p:txBody>
      </p:sp>
      <p:sp>
        <p:nvSpPr>
          <p:cNvPr id="48" name="TextBox 47"/>
          <p:cNvSpPr txBox="1"/>
          <p:nvPr/>
        </p:nvSpPr>
        <p:spPr>
          <a:xfrm>
            <a:off x="4127930" y="5686127"/>
            <a:ext cx="3935990" cy="142875"/>
          </a:xfrm>
          <a:prstGeom prst="rect">
            <a:avLst/>
          </a:prstGeom>
          <a:noFill/>
        </p:spPr>
        <p:txBody>
          <a:bodyPr wrap="square" lIns="0" tIns="0" rIns="0" bIns="0" anchor="t">
            <a:spAutoFit/>
          </a:bodyPr>
          <a:lstStyle/>
          <a:p>
            <a:pPr algn="ctr">
              <a:lnSpc>
                <a:spcPts val="1125"/>
              </a:lnSpc>
            </a:pPr>
            <a:r>
              <a:rPr sz="750" b="0" i="0" u="none">
                <a:solidFill>
                  <a:srgbClr val="DBEAFE"/>
                </a:solidFill>
                <a:latin typeface="Inter"/>
              </a:rPr>
              <a:t>field to purpose / retention</a:t>
            </a:r>
          </a:p>
        </p:txBody>
      </p:sp>
      <p:sp>
        <p:nvSpPr>
          <p:cNvPr id="49" name="TextBox 48"/>
          <p:cNvSpPr txBox="1"/>
          <p:nvPr/>
        </p:nvSpPr>
        <p:spPr>
          <a:xfrm>
            <a:off x="8998029" y="2511325"/>
            <a:ext cx="2968466" cy="152400"/>
          </a:xfrm>
          <a:prstGeom prst="rect">
            <a:avLst/>
          </a:prstGeom>
          <a:noFill/>
        </p:spPr>
        <p:txBody>
          <a:bodyPr wrap="square" lIns="0" tIns="0" rIns="0" bIns="0" anchor="t">
            <a:spAutoFit/>
          </a:bodyPr>
          <a:lstStyle/>
          <a:p>
            <a:pPr algn="ctr">
              <a:lnSpc>
                <a:spcPts val="1200"/>
              </a:lnSpc>
            </a:pPr>
            <a:r>
              <a:rPr sz="900" b="1" i="0" u="none">
                <a:solidFill>
                  <a:srgbClr val="0F172A"/>
                </a:solidFill>
                <a:latin typeface="Inter"/>
              </a:rPr>
              <a:t>Inventory</a:t>
            </a:r>
          </a:p>
        </p:txBody>
      </p:sp>
      <p:sp>
        <p:nvSpPr>
          <p:cNvPr id="50" name="TextBox 49"/>
          <p:cNvSpPr txBox="1"/>
          <p:nvPr/>
        </p:nvSpPr>
        <p:spPr>
          <a:xfrm>
            <a:off x="8998029" y="2663725"/>
            <a:ext cx="2968466" cy="142875"/>
          </a:xfrm>
          <a:prstGeom prst="rect">
            <a:avLst/>
          </a:prstGeom>
          <a:noFill/>
        </p:spPr>
        <p:txBody>
          <a:bodyPr wrap="square" lIns="0" tIns="0" rIns="0" bIns="0" anchor="t">
            <a:spAutoFit/>
          </a:bodyPr>
          <a:lstStyle/>
          <a:p>
            <a:pPr algn="ctr">
              <a:lnSpc>
                <a:spcPts val="1125"/>
              </a:lnSpc>
            </a:pPr>
            <a:r>
              <a:rPr sz="750" b="0" i="0" u="none">
                <a:solidFill>
                  <a:srgbClr val="64748B"/>
                </a:solidFill>
                <a:latin typeface="Inter"/>
              </a:rPr>
              <a:t>JSON / CSV</a:t>
            </a:r>
          </a:p>
        </p:txBody>
      </p:sp>
      <p:sp>
        <p:nvSpPr>
          <p:cNvPr id="51" name="TextBox 50"/>
          <p:cNvSpPr txBox="1"/>
          <p:nvPr/>
        </p:nvSpPr>
        <p:spPr>
          <a:xfrm>
            <a:off x="8998029" y="3898701"/>
            <a:ext cx="2968466" cy="152400"/>
          </a:xfrm>
          <a:prstGeom prst="rect">
            <a:avLst/>
          </a:prstGeom>
          <a:noFill/>
        </p:spPr>
        <p:txBody>
          <a:bodyPr wrap="square" lIns="0" tIns="0" rIns="0" bIns="0" anchor="t">
            <a:spAutoFit/>
          </a:bodyPr>
          <a:lstStyle/>
          <a:p>
            <a:pPr algn="ctr">
              <a:lnSpc>
                <a:spcPts val="1200"/>
              </a:lnSpc>
            </a:pPr>
            <a:r>
              <a:rPr sz="900" b="1" i="0" u="none">
                <a:solidFill>
                  <a:srgbClr val="B91C1C"/>
                </a:solidFill>
                <a:latin typeface="Inter"/>
              </a:rPr>
              <a:t>Gap report</a:t>
            </a:r>
          </a:p>
        </p:txBody>
      </p:sp>
      <p:sp>
        <p:nvSpPr>
          <p:cNvPr id="52" name="TextBox 51"/>
          <p:cNvSpPr txBox="1"/>
          <p:nvPr/>
        </p:nvSpPr>
        <p:spPr>
          <a:xfrm>
            <a:off x="8998029" y="4051101"/>
            <a:ext cx="2968466" cy="142875"/>
          </a:xfrm>
          <a:prstGeom prst="rect">
            <a:avLst/>
          </a:prstGeom>
          <a:noFill/>
        </p:spPr>
        <p:txBody>
          <a:bodyPr wrap="square" lIns="0" tIns="0" rIns="0" bIns="0" anchor="t">
            <a:spAutoFit/>
          </a:bodyPr>
          <a:lstStyle/>
          <a:p>
            <a:pPr algn="ctr">
              <a:lnSpc>
                <a:spcPts val="1125"/>
              </a:lnSpc>
            </a:pPr>
            <a:r>
              <a:rPr sz="750" b="0" i="0" u="none">
                <a:solidFill>
                  <a:srgbClr val="64748B"/>
                </a:solidFill>
                <a:latin typeface="Inter"/>
              </a:rPr>
              <a:t>missing metadata</a:t>
            </a:r>
          </a:p>
        </p:txBody>
      </p:sp>
      <p:sp>
        <p:nvSpPr>
          <p:cNvPr id="53" name="TextBox 52"/>
          <p:cNvSpPr txBox="1"/>
          <p:nvPr/>
        </p:nvSpPr>
        <p:spPr>
          <a:xfrm>
            <a:off x="8998029" y="5286077"/>
            <a:ext cx="2968466" cy="152400"/>
          </a:xfrm>
          <a:prstGeom prst="rect">
            <a:avLst/>
          </a:prstGeom>
          <a:noFill/>
        </p:spPr>
        <p:txBody>
          <a:bodyPr wrap="square" lIns="0" tIns="0" rIns="0" bIns="0" anchor="t">
            <a:spAutoFit/>
          </a:bodyPr>
          <a:lstStyle/>
          <a:p>
            <a:pPr algn="ctr">
              <a:lnSpc>
                <a:spcPts val="1200"/>
              </a:lnSpc>
            </a:pPr>
            <a:r>
              <a:rPr sz="900" b="1" i="0" u="none">
                <a:solidFill>
                  <a:srgbClr val="1E3A8A"/>
                </a:solidFill>
                <a:latin typeface="Inter"/>
              </a:rPr>
              <a:t>Labelled set</a:t>
            </a:r>
          </a:p>
        </p:txBody>
      </p:sp>
      <p:sp>
        <p:nvSpPr>
          <p:cNvPr id="54" name="TextBox 53"/>
          <p:cNvSpPr txBox="1"/>
          <p:nvPr/>
        </p:nvSpPr>
        <p:spPr>
          <a:xfrm>
            <a:off x="8998029" y="5438477"/>
            <a:ext cx="2968466" cy="142875"/>
          </a:xfrm>
          <a:prstGeom prst="rect">
            <a:avLst/>
          </a:prstGeom>
          <a:noFill/>
        </p:spPr>
        <p:txBody>
          <a:bodyPr wrap="square" lIns="0" tIns="0" rIns="0" bIns="0" anchor="t">
            <a:spAutoFit/>
          </a:bodyPr>
          <a:lstStyle/>
          <a:p>
            <a:pPr algn="ctr">
              <a:lnSpc>
                <a:spcPts val="1125"/>
              </a:lnSpc>
            </a:pPr>
            <a:r>
              <a:rPr sz="750" b="0" i="0" u="none">
                <a:solidFill>
                  <a:srgbClr val="64748B"/>
                </a:solidFill>
                <a:latin typeface="Inter"/>
              </a:rPr>
              <a:t>hand-labelled test data</a:t>
            </a:r>
          </a:p>
        </p:txBody>
      </p:sp>
      <p:sp>
        <p:nvSpPr>
          <p:cNvPr id="55" name="TextBox 54"/>
          <p:cNvSpPr txBox="1"/>
          <p:nvPr/>
        </p:nvSpPr>
        <p:spPr>
          <a:xfrm>
            <a:off x="9815750" y="5743277"/>
            <a:ext cx="580548" cy="114300"/>
          </a:xfrm>
          <a:prstGeom prst="rect">
            <a:avLst/>
          </a:prstGeom>
          <a:noFill/>
        </p:spPr>
        <p:txBody>
          <a:bodyPr wrap="square" lIns="0" tIns="0" rIns="0" bIns="0" anchor="t">
            <a:spAutoFit/>
          </a:bodyPr>
          <a:lstStyle/>
          <a:p>
            <a:pPr algn="ctr">
              <a:lnSpc>
                <a:spcPts val="1125"/>
              </a:lnSpc>
            </a:pPr>
            <a:r>
              <a:rPr sz="750" b="1" i="0" u="none">
                <a:solidFill>
                  <a:srgbClr val="1D4ED8"/>
                </a:solidFill>
                <a:latin typeface="Inter"/>
              </a:rPr>
              <a:t>Evaluator:</a:t>
            </a:r>
          </a:p>
        </p:txBody>
      </p:sp>
      <p:sp>
        <p:nvSpPr>
          <p:cNvPr id="56" name="TextBox 55"/>
          <p:cNvSpPr txBox="1"/>
          <p:nvPr/>
        </p:nvSpPr>
        <p:spPr>
          <a:xfrm>
            <a:off x="10302001" y="5743277"/>
            <a:ext cx="865346" cy="114300"/>
          </a:xfrm>
          <a:prstGeom prst="rect">
            <a:avLst/>
          </a:prstGeom>
          <a:noFill/>
        </p:spPr>
        <p:txBody>
          <a:bodyPr wrap="square" lIns="0" tIns="0" rIns="0" bIns="0" anchor="t">
            <a:spAutoFit/>
          </a:bodyPr>
          <a:lstStyle/>
          <a:p>
            <a:pPr algn="ctr">
              <a:lnSpc>
                <a:spcPts val="1125"/>
              </a:lnSpc>
            </a:pPr>
            <a:r>
              <a:rPr sz="750" b="0" i="0" u="none">
                <a:solidFill>
                  <a:srgbClr val="475569"/>
                </a:solidFill>
                <a:latin typeface="Inter"/>
              </a:rPr>
              <a:t>precision / recall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228975" y="1285875"/>
            <a:ext cx="5734050" cy="4724400"/>
          </a:xfrm>
          <a:prstGeom prst="rect">
            <a:avLst/>
          </a:prstGeom>
        </p:spPr>
      </p:pic>
      <p:pic>
        <p:nvPicPr>
          <p:cNvPr id="3" name="Picture 2" descr="image.png"/>
          <p:cNvPicPr>
            <a:picLocks noChangeAspect="1"/>
          </p:cNvPicPr>
          <p:nvPr/>
        </p:nvPicPr>
        <p:blipFill>
          <a:blip r:embed="rId3"/>
          <a:stretch>
            <a:fillRect/>
          </a:stretch>
        </p:blipFill>
        <p:spPr>
          <a:xfrm>
            <a:off x="304800" y="3105150"/>
            <a:ext cx="1835050" cy="1085850"/>
          </a:xfrm>
          <a:prstGeom prst="rect">
            <a:avLst/>
          </a:prstGeom>
        </p:spPr>
      </p:pic>
      <p:pic>
        <p:nvPicPr>
          <p:cNvPr id="4" name="Picture 3" descr="image.png"/>
          <p:cNvPicPr>
            <a:picLocks noChangeAspect="1"/>
          </p:cNvPicPr>
          <p:nvPr/>
        </p:nvPicPr>
        <p:blipFill>
          <a:blip r:embed="rId4"/>
          <a:stretch>
            <a:fillRect/>
          </a:stretch>
        </p:blipFill>
        <p:spPr>
          <a:xfrm>
            <a:off x="3352800" y="5362575"/>
            <a:ext cx="5486400" cy="523875"/>
          </a:xfrm>
          <a:prstGeom prst="rect">
            <a:avLst/>
          </a:prstGeom>
        </p:spPr>
      </p:pic>
      <p:pic>
        <p:nvPicPr>
          <p:cNvPr id="5" name="Picture 4" descr="image.png"/>
          <p:cNvPicPr>
            <a:picLocks noChangeAspect="1"/>
          </p:cNvPicPr>
          <p:nvPr/>
        </p:nvPicPr>
        <p:blipFill>
          <a:blip r:embed="rId3"/>
          <a:stretch>
            <a:fillRect/>
          </a:stretch>
        </p:blipFill>
        <p:spPr>
          <a:xfrm>
            <a:off x="10052000" y="3105150"/>
            <a:ext cx="1835199" cy="1085850"/>
          </a:xfrm>
          <a:prstGeom prst="rect">
            <a:avLst/>
          </a:prstGeom>
        </p:spPr>
      </p:pic>
      <p:pic>
        <p:nvPicPr>
          <p:cNvPr id="6" name="Picture 5" descr="image.png"/>
          <p:cNvPicPr>
            <a:picLocks noChangeAspect="1"/>
          </p:cNvPicPr>
          <p:nvPr/>
        </p:nvPicPr>
        <p:blipFill>
          <a:blip r:embed="rId5"/>
          <a:stretch>
            <a:fillRect/>
          </a:stretch>
        </p:blipFill>
        <p:spPr>
          <a:xfrm>
            <a:off x="3352800" y="1409700"/>
            <a:ext cx="2686050" cy="538162"/>
          </a:xfrm>
          <a:prstGeom prst="rect">
            <a:avLst/>
          </a:prstGeom>
        </p:spPr>
      </p:pic>
      <p:pic>
        <p:nvPicPr>
          <p:cNvPr id="7" name="Picture 6" descr="image.png"/>
          <p:cNvPicPr>
            <a:picLocks noChangeAspect="1"/>
          </p:cNvPicPr>
          <p:nvPr/>
        </p:nvPicPr>
        <p:blipFill>
          <a:blip r:embed="rId5"/>
          <a:stretch>
            <a:fillRect/>
          </a:stretch>
        </p:blipFill>
        <p:spPr>
          <a:xfrm>
            <a:off x="6153150" y="1409700"/>
            <a:ext cx="2686050" cy="538162"/>
          </a:xfrm>
          <a:prstGeom prst="rect">
            <a:avLst/>
          </a:prstGeom>
        </p:spPr>
      </p:pic>
      <p:pic>
        <p:nvPicPr>
          <p:cNvPr id="8" name="Picture 7" descr="image.png"/>
          <p:cNvPicPr>
            <a:picLocks noChangeAspect="1"/>
          </p:cNvPicPr>
          <p:nvPr/>
        </p:nvPicPr>
        <p:blipFill>
          <a:blip r:embed="rId6"/>
          <a:stretch>
            <a:fillRect/>
          </a:stretch>
        </p:blipFill>
        <p:spPr>
          <a:xfrm>
            <a:off x="3352800" y="3389709"/>
            <a:ext cx="1777900" cy="531018"/>
          </a:xfrm>
          <a:prstGeom prst="rect">
            <a:avLst/>
          </a:prstGeom>
        </p:spPr>
      </p:pic>
      <p:pic>
        <p:nvPicPr>
          <p:cNvPr id="9" name="Picture 8" descr="image.png"/>
          <p:cNvPicPr>
            <a:picLocks noChangeAspect="1"/>
          </p:cNvPicPr>
          <p:nvPr/>
        </p:nvPicPr>
        <p:blipFill>
          <a:blip r:embed="rId7"/>
          <a:stretch>
            <a:fillRect/>
          </a:stretch>
        </p:blipFill>
        <p:spPr>
          <a:xfrm>
            <a:off x="5206900" y="3389709"/>
            <a:ext cx="1778049" cy="531018"/>
          </a:xfrm>
          <a:prstGeom prst="rect">
            <a:avLst/>
          </a:prstGeom>
        </p:spPr>
      </p:pic>
      <p:pic>
        <p:nvPicPr>
          <p:cNvPr id="10" name="Picture 9" descr="image.png"/>
          <p:cNvPicPr>
            <a:picLocks noChangeAspect="1"/>
          </p:cNvPicPr>
          <p:nvPr/>
        </p:nvPicPr>
        <p:blipFill>
          <a:blip r:embed="rId8"/>
          <a:stretch>
            <a:fillRect/>
          </a:stretch>
        </p:blipFill>
        <p:spPr>
          <a:xfrm>
            <a:off x="7061150" y="3389709"/>
            <a:ext cx="1778049" cy="531018"/>
          </a:xfrm>
          <a:prstGeom prst="rect">
            <a:avLst/>
          </a:prstGeom>
        </p:spPr>
      </p:pic>
      <p:sp>
        <p:nvSpPr>
          <p:cNvPr id="11" name="Rounded Rectangle 10"/>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0" y="6162675"/>
            <a:ext cx="12192000" cy="152400"/>
          </a:xfrm>
          <a:prstGeom prst="rect">
            <a:avLst/>
          </a:prstGeom>
          <a:noFill/>
        </p:spPr>
        <p:txBody>
          <a:bodyPr wrap="square" lIns="0" tIns="0" rIns="0" bIns="0" anchor="t">
            <a:spAutoFit/>
          </a:bodyPr>
          <a:lstStyle/>
          <a:p>
            <a:pPr algn="ctr">
              <a:lnSpc>
                <a:spcPts val="1200"/>
              </a:lnSpc>
            </a:pPr>
            <a:r>
              <a:rPr sz="900" b="0" i="0" u="none">
                <a:solidFill>
                  <a:srgbClr val="64748B"/>
                </a:solidFill>
                <a:latin typeface="Inter"/>
              </a:rPr>
              <a:t>Figure: Data Flow Diagram (DFD)</a:t>
            </a:r>
          </a:p>
        </p:txBody>
      </p:sp>
      <p:sp>
        <p:nvSpPr>
          <p:cNvPr id="13" name="TextBox 12"/>
          <p:cNvSpPr txBox="1"/>
          <p:nvPr/>
        </p:nvSpPr>
        <p:spPr>
          <a:xfrm>
            <a:off x="11064031" y="304800"/>
            <a:ext cx="946643"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Level-1 Flow</a:t>
            </a:r>
          </a:p>
        </p:txBody>
      </p:sp>
      <p:sp>
        <p:nvSpPr>
          <p:cNvPr id="14" name="TextBox 13"/>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Data Flow Diagram</a:t>
            </a:r>
          </a:p>
        </p:txBody>
      </p:sp>
      <p:sp>
        <p:nvSpPr>
          <p:cNvPr id="15" name="TextBox 14"/>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Level-1 view: who supplies data, how it is processed, and what is stored.</a:t>
            </a:r>
          </a:p>
        </p:txBody>
      </p:sp>
      <p:sp>
        <p:nvSpPr>
          <p:cNvPr id="16" name="TextBox 15"/>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17" name="TextBox 16"/>
          <p:cNvSpPr txBox="1"/>
          <p:nvPr/>
        </p:nvSpPr>
        <p:spPr>
          <a:xfrm>
            <a:off x="11610975" y="6400800"/>
            <a:ext cx="317658"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8 / 11</a:t>
            </a:r>
          </a:p>
        </p:txBody>
      </p:sp>
      <p:sp>
        <p:nvSpPr>
          <p:cNvPr id="18" name="TextBox 17"/>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19" name="TextBox 18"/>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20" name="TextBox 19"/>
          <p:cNvSpPr txBox="1"/>
          <p:nvPr/>
        </p:nvSpPr>
        <p:spPr>
          <a:xfrm>
            <a:off x="944909" y="304800"/>
            <a:ext cx="1204912"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Data Flow Diagram</a:t>
            </a:r>
          </a:p>
        </p:txBody>
      </p:sp>
      <p:pic>
        <p:nvPicPr>
          <p:cNvPr id="21" name="Picture 20" descr="image.png"/>
          <p:cNvPicPr>
            <a:picLocks noChangeAspect="1"/>
          </p:cNvPicPr>
          <p:nvPr/>
        </p:nvPicPr>
        <p:blipFill>
          <a:blip r:embed="rId9"/>
          <a:stretch>
            <a:fillRect/>
          </a:stretch>
        </p:blipFill>
        <p:spPr>
          <a:xfrm>
            <a:off x="2617737" y="3571875"/>
            <a:ext cx="133350" cy="152400"/>
          </a:xfrm>
          <a:prstGeom prst="rect">
            <a:avLst/>
          </a:prstGeom>
        </p:spPr>
      </p:pic>
      <p:pic>
        <p:nvPicPr>
          <p:cNvPr id="22" name="Picture 21" descr="image.png"/>
          <p:cNvPicPr>
            <a:picLocks noChangeAspect="1"/>
          </p:cNvPicPr>
          <p:nvPr/>
        </p:nvPicPr>
        <p:blipFill>
          <a:blip r:embed="rId10"/>
          <a:stretch>
            <a:fillRect/>
          </a:stretch>
        </p:blipFill>
        <p:spPr>
          <a:xfrm>
            <a:off x="9440763" y="3571875"/>
            <a:ext cx="133350" cy="152400"/>
          </a:xfrm>
          <a:prstGeom prst="rect">
            <a:avLst/>
          </a:prstGeom>
        </p:spPr>
      </p:pic>
      <p:sp>
        <p:nvSpPr>
          <p:cNvPr id="23" name="TextBox 22"/>
          <p:cNvSpPr txBox="1"/>
          <p:nvPr/>
        </p:nvSpPr>
        <p:spPr>
          <a:xfrm>
            <a:off x="364338" y="3276600"/>
            <a:ext cx="1715973" cy="228600"/>
          </a:xfrm>
          <a:prstGeom prst="rect">
            <a:avLst/>
          </a:prstGeom>
          <a:noFill/>
        </p:spPr>
        <p:txBody>
          <a:bodyPr wrap="square" lIns="0" tIns="0" rIns="0" bIns="0" anchor="t">
            <a:spAutoFit/>
          </a:bodyPr>
          <a:lstStyle/>
          <a:p>
            <a:pPr algn="ctr">
              <a:lnSpc>
                <a:spcPts val="1800"/>
              </a:lnSpc>
            </a:pPr>
            <a:r>
              <a:rPr sz="1200" b="1" i="0" u="none">
                <a:solidFill>
                  <a:srgbClr val="1D4ED8"/>
                </a:solidFill>
                <a:latin typeface="Inter"/>
              </a:rPr>
              <a:t>E1</a:t>
            </a:r>
          </a:p>
        </p:txBody>
      </p:sp>
      <p:sp>
        <p:nvSpPr>
          <p:cNvPr id="24" name="TextBox 23"/>
          <p:cNvSpPr txBox="1"/>
          <p:nvPr/>
        </p:nvSpPr>
        <p:spPr>
          <a:xfrm>
            <a:off x="364338" y="3543300"/>
            <a:ext cx="1715973" cy="152400"/>
          </a:xfrm>
          <a:prstGeom prst="rect">
            <a:avLst/>
          </a:prstGeom>
          <a:noFill/>
        </p:spPr>
        <p:txBody>
          <a:bodyPr wrap="square" lIns="0" tIns="0" rIns="0" bIns="0" anchor="t">
            <a:spAutoFit/>
          </a:bodyPr>
          <a:lstStyle/>
          <a:p>
            <a:pPr algn="ctr">
              <a:lnSpc>
                <a:spcPts val="1200"/>
              </a:lnSpc>
            </a:pPr>
            <a:r>
              <a:rPr sz="900" b="1" i="0" u="none">
                <a:solidFill>
                  <a:srgbClr val="0F172A"/>
                </a:solidFill>
                <a:latin typeface="Inter"/>
              </a:rPr>
              <a:t>Data steward</a:t>
            </a:r>
          </a:p>
        </p:txBody>
      </p:sp>
      <p:sp>
        <p:nvSpPr>
          <p:cNvPr id="25" name="TextBox 24"/>
          <p:cNvSpPr txBox="1"/>
          <p:nvPr/>
        </p:nvSpPr>
        <p:spPr>
          <a:xfrm>
            <a:off x="476250" y="3733800"/>
            <a:ext cx="1492150" cy="285750"/>
          </a:xfrm>
          <a:prstGeom prst="rect">
            <a:avLst/>
          </a:prstGeom>
          <a:noFill/>
        </p:spPr>
        <p:txBody>
          <a:bodyPr wrap="square" lIns="0" tIns="0" rIns="0" bIns="0" anchor="t">
            <a:spAutoFit/>
          </a:bodyPr>
          <a:lstStyle/>
          <a:p>
            <a:pPr algn="ctr">
              <a:lnSpc>
                <a:spcPts val="1125"/>
              </a:lnSpc>
            </a:pPr>
            <a:r>
              <a:rPr sz="750" b="0" i="0" u="none">
                <a:solidFill>
                  <a:srgbClr val="64748B"/>
                </a:solidFill>
                <a:latin typeface="Inter"/>
              </a:rPr>
              <a:t>Provides datasets, rules &amp; declared metadata</a:t>
            </a:r>
          </a:p>
        </p:txBody>
      </p:sp>
      <p:sp>
        <p:nvSpPr>
          <p:cNvPr id="26" name="TextBox 25"/>
          <p:cNvSpPr txBox="1"/>
          <p:nvPr/>
        </p:nvSpPr>
        <p:spPr>
          <a:xfrm>
            <a:off x="3050857" y="5476875"/>
            <a:ext cx="6090285" cy="152400"/>
          </a:xfrm>
          <a:prstGeom prst="rect">
            <a:avLst/>
          </a:prstGeom>
          <a:noFill/>
        </p:spPr>
        <p:txBody>
          <a:bodyPr wrap="square" lIns="0" tIns="0" rIns="0" bIns="0" anchor="t">
            <a:spAutoFit/>
          </a:bodyPr>
          <a:lstStyle/>
          <a:p>
            <a:pPr algn="ctr">
              <a:lnSpc>
                <a:spcPts val="1200"/>
              </a:lnSpc>
            </a:pPr>
            <a:r>
              <a:rPr sz="900" b="1" i="0" u="none">
                <a:solidFill>
                  <a:srgbClr val="1D4ED8"/>
                </a:solidFill>
                <a:latin typeface="Inter"/>
              </a:rPr>
              <a:t>D2 Config files</a:t>
            </a:r>
          </a:p>
        </p:txBody>
      </p:sp>
      <p:sp>
        <p:nvSpPr>
          <p:cNvPr id="27" name="TextBox 26"/>
          <p:cNvSpPr txBox="1"/>
          <p:nvPr/>
        </p:nvSpPr>
        <p:spPr>
          <a:xfrm>
            <a:off x="3050857" y="5629275"/>
            <a:ext cx="6090285" cy="142875"/>
          </a:xfrm>
          <a:prstGeom prst="rect">
            <a:avLst/>
          </a:prstGeom>
          <a:noFill/>
        </p:spPr>
        <p:txBody>
          <a:bodyPr wrap="square" lIns="0" tIns="0" rIns="0" bIns="0" anchor="t">
            <a:spAutoFit/>
          </a:bodyPr>
          <a:lstStyle/>
          <a:p>
            <a:pPr algn="ctr">
              <a:lnSpc>
                <a:spcPts val="1125"/>
              </a:lnSpc>
            </a:pPr>
            <a:r>
              <a:rPr sz="750" b="0" i="0" u="none">
                <a:solidFill>
                  <a:srgbClr val="475569"/>
                </a:solidFill>
                <a:latin typeface="Inter"/>
              </a:rPr>
              <a:t>YAML rules, purpose + retention metadata, labelled test set</a:t>
            </a:r>
          </a:p>
        </p:txBody>
      </p:sp>
      <p:sp>
        <p:nvSpPr>
          <p:cNvPr id="28" name="TextBox 27"/>
          <p:cNvSpPr txBox="1"/>
          <p:nvPr/>
        </p:nvSpPr>
        <p:spPr>
          <a:xfrm>
            <a:off x="10111527" y="3276600"/>
            <a:ext cx="1716144" cy="228600"/>
          </a:xfrm>
          <a:prstGeom prst="rect">
            <a:avLst/>
          </a:prstGeom>
          <a:noFill/>
        </p:spPr>
        <p:txBody>
          <a:bodyPr wrap="square" lIns="0" tIns="0" rIns="0" bIns="0" anchor="t">
            <a:spAutoFit/>
          </a:bodyPr>
          <a:lstStyle/>
          <a:p>
            <a:pPr algn="ctr">
              <a:lnSpc>
                <a:spcPts val="1800"/>
              </a:lnSpc>
            </a:pPr>
            <a:r>
              <a:rPr sz="1200" b="1" i="0" u="none">
                <a:solidFill>
                  <a:srgbClr val="1D4ED8"/>
                </a:solidFill>
                <a:latin typeface="Inter"/>
              </a:rPr>
              <a:t>E2</a:t>
            </a:r>
          </a:p>
        </p:txBody>
      </p:sp>
      <p:sp>
        <p:nvSpPr>
          <p:cNvPr id="29" name="TextBox 28"/>
          <p:cNvSpPr txBox="1"/>
          <p:nvPr/>
        </p:nvSpPr>
        <p:spPr>
          <a:xfrm>
            <a:off x="10111527" y="3543300"/>
            <a:ext cx="1716144" cy="152400"/>
          </a:xfrm>
          <a:prstGeom prst="rect">
            <a:avLst/>
          </a:prstGeom>
          <a:noFill/>
        </p:spPr>
        <p:txBody>
          <a:bodyPr wrap="square" lIns="0" tIns="0" rIns="0" bIns="0" anchor="t">
            <a:spAutoFit/>
          </a:bodyPr>
          <a:lstStyle/>
          <a:p>
            <a:pPr algn="ctr">
              <a:lnSpc>
                <a:spcPts val="1200"/>
              </a:lnSpc>
            </a:pPr>
            <a:r>
              <a:rPr sz="900" b="1" i="0" u="none">
                <a:solidFill>
                  <a:srgbClr val="0F172A"/>
                </a:solidFill>
                <a:latin typeface="Inter"/>
              </a:rPr>
              <a:t>Human reviewer</a:t>
            </a:r>
          </a:p>
        </p:txBody>
      </p:sp>
      <p:sp>
        <p:nvSpPr>
          <p:cNvPr id="30" name="TextBox 29"/>
          <p:cNvSpPr txBox="1"/>
          <p:nvPr/>
        </p:nvSpPr>
        <p:spPr>
          <a:xfrm>
            <a:off x="10223450" y="3733800"/>
            <a:ext cx="1492299" cy="285750"/>
          </a:xfrm>
          <a:prstGeom prst="rect">
            <a:avLst/>
          </a:prstGeom>
          <a:noFill/>
        </p:spPr>
        <p:txBody>
          <a:bodyPr wrap="square" lIns="0" tIns="0" rIns="0" bIns="0" anchor="t">
            <a:spAutoFit/>
          </a:bodyPr>
          <a:lstStyle/>
          <a:p>
            <a:pPr algn="ctr">
              <a:lnSpc>
                <a:spcPts val="1125"/>
              </a:lnSpc>
            </a:pPr>
            <a:r>
              <a:rPr sz="750" b="0" i="0" u="none">
                <a:solidFill>
                  <a:srgbClr val="64748B"/>
                </a:solidFill>
                <a:latin typeface="Inter"/>
              </a:rPr>
              <a:t>Reviews findings, gap flags &amp; precision/recall</a:t>
            </a:r>
          </a:p>
        </p:txBody>
      </p:sp>
      <p:sp>
        <p:nvSpPr>
          <p:cNvPr id="31" name="TextBox 30"/>
          <p:cNvSpPr txBox="1"/>
          <p:nvPr/>
        </p:nvSpPr>
        <p:spPr>
          <a:xfrm>
            <a:off x="3260883" y="1524000"/>
            <a:ext cx="2869882" cy="152400"/>
          </a:xfrm>
          <a:prstGeom prst="rect">
            <a:avLst/>
          </a:prstGeom>
          <a:noFill/>
        </p:spPr>
        <p:txBody>
          <a:bodyPr wrap="square" lIns="0" tIns="0" rIns="0" bIns="0" anchor="t">
            <a:spAutoFit/>
          </a:bodyPr>
          <a:lstStyle/>
          <a:p>
            <a:pPr algn="ctr">
              <a:lnSpc>
                <a:spcPts val="1200"/>
              </a:lnSpc>
            </a:pPr>
            <a:r>
              <a:rPr sz="900" b="1" i="0" u="none">
                <a:solidFill>
                  <a:srgbClr val="1D4ED8"/>
                </a:solidFill>
                <a:latin typeface="Inter"/>
              </a:rPr>
              <a:t>D1 Datasets</a:t>
            </a:r>
          </a:p>
        </p:txBody>
      </p:sp>
      <p:sp>
        <p:nvSpPr>
          <p:cNvPr id="32" name="TextBox 31"/>
          <p:cNvSpPr txBox="1"/>
          <p:nvPr/>
        </p:nvSpPr>
        <p:spPr>
          <a:xfrm>
            <a:off x="3260883" y="1676400"/>
            <a:ext cx="2869882" cy="157162"/>
          </a:xfrm>
          <a:prstGeom prst="rect">
            <a:avLst/>
          </a:prstGeom>
          <a:noFill/>
        </p:spPr>
        <p:txBody>
          <a:bodyPr wrap="square" lIns="0" tIns="0" rIns="0" bIns="0" anchor="t">
            <a:spAutoFit/>
          </a:bodyPr>
          <a:lstStyle/>
          <a:p>
            <a:pPr algn="ctr">
              <a:lnSpc>
                <a:spcPts val="1237"/>
              </a:lnSpc>
            </a:pPr>
            <a:r>
              <a:rPr sz="825" b="0" i="0" u="none">
                <a:solidFill>
                  <a:srgbClr val="475569"/>
                </a:solidFill>
                <a:latin typeface="Inter"/>
              </a:rPr>
              <a:t>CSV, SQLite</a:t>
            </a:r>
          </a:p>
        </p:txBody>
      </p:sp>
      <p:sp>
        <p:nvSpPr>
          <p:cNvPr id="33" name="TextBox 32"/>
          <p:cNvSpPr txBox="1"/>
          <p:nvPr/>
        </p:nvSpPr>
        <p:spPr>
          <a:xfrm>
            <a:off x="6061233" y="1524000"/>
            <a:ext cx="2869882" cy="152400"/>
          </a:xfrm>
          <a:prstGeom prst="rect">
            <a:avLst/>
          </a:prstGeom>
          <a:noFill/>
        </p:spPr>
        <p:txBody>
          <a:bodyPr wrap="square" lIns="0" tIns="0" rIns="0" bIns="0" anchor="t">
            <a:spAutoFit/>
          </a:bodyPr>
          <a:lstStyle/>
          <a:p>
            <a:pPr algn="ctr">
              <a:lnSpc>
                <a:spcPts val="1200"/>
              </a:lnSpc>
            </a:pPr>
            <a:r>
              <a:rPr sz="900" b="1" i="0" u="none">
                <a:solidFill>
                  <a:srgbClr val="1D4ED8"/>
                </a:solidFill>
                <a:latin typeface="Inter"/>
              </a:rPr>
              <a:t>D3 Inventory &amp; reports</a:t>
            </a:r>
          </a:p>
        </p:txBody>
      </p:sp>
      <p:sp>
        <p:nvSpPr>
          <p:cNvPr id="34" name="TextBox 33"/>
          <p:cNvSpPr txBox="1"/>
          <p:nvPr/>
        </p:nvSpPr>
        <p:spPr>
          <a:xfrm>
            <a:off x="6061233" y="1676400"/>
            <a:ext cx="2869882" cy="142875"/>
          </a:xfrm>
          <a:prstGeom prst="rect">
            <a:avLst/>
          </a:prstGeom>
          <a:noFill/>
        </p:spPr>
        <p:txBody>
          <a:bodyPr wrap="square" lIns="0" tIns="0" rIns="0" bIns="0" anchor="t">
            <a:spAutoFit/>
          </a:bodyPr>
          <a:lstStyle/>
          <a:p>
            <a:pPr algn="ctr">
              <a:lnSpc>
                <a:spcPts val="1125"/>
              </a:lnSpc>
            </a:pPr>
            <a:r>
              <a:rPr sz="750" b="0" i="0" u="none">
                <a:solidFill>
                  <a:srgbClr val="475569"/>
                </a:solidFill>
                <a:latin typeface="Inter"/>
              </a:rPr>
              <a:t>inventory, gap report, metrics</a:t>
            </a:r>
          </a:p>
        </p:txBody>
      </p:sp>
      <p:sp>
        <p:nvSpPr>
          <p:cNvPr id="35" name="TextBox 34"/>
          <p:cNvSpPr txBox="1"/>
          <p:nvPr/>
        </p:nvSpPr>
        <p:spPr>
          <a:xfrm>
            <a:off x="3350902" y="3504009"/>
            <a:ext cx="1781695" cy="152400"/>
          </a:xfrm>
          <a:prstGeom prst="rect">
            <a:avLst/>
          </a:prstGeom>
          <a:noFill/>
        </p:spPr>
        <p:txBody>
          <a:bodyPr wrap="square" lIns="0" tIns="0" rIns="0" bIns="0" anchor="t">
            <a:spAutoFit/>
          </a:bodyPr>
          <a:lstStyle/>
          <a:p>
            <a:pPr algn="ctr">
              <a:lnSpc>
                <a:spcPts val="1200"/>
              </a:lnSpc>
            </a:pPr>
            <a:r>
              <a:rPr sz="900" b="1" i="0" u="none">
                <a:solidFill>
                  <a:srgbClr val="FFFFFF"/>
                </a:solidFill>
                <a:latin typeface="Inter"/>
              </a:rPr>
              <a:t>P1</a:t>
            </a:r>
          </a:p>
        </p:txBody>
      </p:sp>
      <p:sp>
        <p:nvSpPr>
          <p:cNvPr id="36" name="TextBox 35"/>
          <p:cNvSpPr txBox="1"/>
          <p:nvPr/>
        </p:nvSpPr>
        <p:spPr>
          <a:xfrm>
            <a:off x="3350902" y="3675459"/>
            <a:ext cx="1781695" cy="130968"/>
          </a:xfrm>
          <a:prstGeom prst="rect">
            <a:avLst/>
          </a:prstGeom>
          <a:noFill/>
        </p:spPr>
        <p:txBody>
          <a:bodyPr wrap="square" lIns="0" tIns="0" rIns="0" bIns="0" anchor="t">
            <a:spAutoFit/>
          </a:bodyPr>
          <a:lstStyle/>
          <a:p>
            <a:pPr algn="ctr">
              <a:lnSpc>
                <a:spcPts val="1031"/>
              </a:lnSpc>
            </a:pPr>
            <a:r>
              <a:rPr sz="825" b="0" i="0" u="none">
                <a:solidFill>
                  <a:srgbClr val="FFFFFF"/>
                </a:solidFill>
                <a:latin typeface="Inter"/>
              </a:rPr>
              <a:t>Scan &amp; Detect</a:t>
            </a:r>
          </a:p>
        </p:txBody>
      </p:sp>
      <p:sp>
        <p:nvSpPr>
          <p:cNvPr id="37" name="TextBox 36"/>
          <p:cNvSpPr txBox="1"/>
          <p:nvPr/>
        </p:nvSpPr>
        <p:spPr>
          <a:xfrm>
            <a:off x="5204992" y="3504009"/>
            <a:ext cx="1781867" cy="152400"/>
          </a:xfrm>
          <a:prstGeom prst="rect">
            <a:avLst/>
          </a:prstGeom>
          <a:noFill/>
        </p:spPr>
        <p:txBody>
          <a:bodyPr wrap="square" lIns="0" tIns="0" rIns="0" bIns="0" anchor="t">
            <a:spAutoFit/>
          </a:bodyPr>
          <a:lstStyle/>
          <a:p>
            <a:pPr algn="ctr">
              <a:lnSpc>
                <a:spcPts val="1200"/>
              </a:lnSpc>
            </a:pPr>
            <a:r>
              <a:rPr sz="900" b="1" i="0" u="none">
                <a:solidFill>
                  <a:srgbClr val="FFFFFF"/>
                </a:solidFill>
                <a:latin typeface="Inter"/>
              </a:rPr>
              <a:t>P2</a:t>
            </a:r>
          </a:p>
        </p:txBody>
      </p:sp>
      <p:sp>
        <p:nvSpPr>
          <p:cNvPr id="38" name="TextBox 37"/>
          <p:cNvSpPr txBox="1"/>
          <p:nvPr/>
        </p:nvSpPr>
        <p:spPr>
          <a:xfrm>
            <a:off x="5204992" y="3675459"/>
            <a:ext cx="1781867" cy="130968"/>
          </a:xfrm>
          <a:prstGeom prst="rect">
            <a:avLst/>
          </a:prstGeom>
          <a:noFill/>
        </p:spPr>
        <p:txBody>
          <a:bodyPr wrap="square" lIns="0" tIns="0" rIns="0" bIns="0" anchor="t">
            <a:spAutoFit/>
          </a:bodyPr>
          <a:lstStyle/>
          <a:p>
            <a:pPr algn="ctr">
              <a:lnSpc>
                <a:spcPts val="1031"/>
              </a:lnSpc>
            </a:pPr>
            <a:r>
              <a:rPr sz="825" b="0" i="0" u="none">
                <a:solidFill>
                  <a:srgbClr val="FFFFFF"/>
                </a:solidFill>
                <a:latin typeface="Inter"/>
              </a:rPr>
              <a:t>Link &amp; Flag Gaps</a:t>
            </a:r>
          </a:p>
        </p:txBody>
      </p:sp>
      <p:sp>
        <p:nvSpPr>
          <p:cNvPr id="39" name="TextBox 38"/>
          <p:cNvSpPr txBox="1"/>
          <p:nvPr/>
        </p:nvSpPr>
        <p:spPr>
          <a:xfrm>
            <a:off x="7059241" y="3504009"/>
            <a:ext cx="1781867" cy="152400"/>
          </a:xfrm>
          <a:prstGeom prst="rect">
            <a:avLst/>
          </a:prstGeom>
          <a:noFill/>
        </p:spPr>
        <p:txBody>
          <a:bodyPr wrap="square" lIns="0" tIns="0" rIns="0" bIns="0" anchor="t">
            <a:spAutoFit/>
          </a:bodyPr>
          <a:lstStyle/>
          <a:p>
            <a:pPr algn="ctr">
              <a:lnSpc>
                <a:spcPts val="1200"/>
              </a:lnSpc>
            </a:pPr>
            <a:r>
              <a:rPr sz="900" b="1" i="0" u="none">
                <a:solidFill>
                  <a:srgbClr val="FFFFFF"/>
                </a:solidFill>
                <a:latin typeface="Inter"/>
              </a:rPr>
              <a:t>P3</a:t>
            </a:r>
          </a:p>
        </p:txBody>
      </p:sp>
      <p:sp>
        <p:nvSpPr>
          <p:cNvPr id="40" name="TextBox 39"/>
          <p:cNvSpPr txBox="1"/>
          <p:nvPr/>
        </p:nvSpPr>
        <p:spPr>
          <a:xfrm>
            <a:off x="7059241" y="3675459"/>
            <a:ext cx="1781867" cy="130968"/>
          </a:xfrm>
          <a:prstGeom prst="rect">
            <a:avLst/>
          </a:prstGeom>
          <a:noFill/>
        </p:spPr>
        <p:txBody>
          <a:bodyPr wrap="square" lIns="0" tIns="0" rIns="0" bIns="0" anchor="t">
            <a:spAutoFit/>
          </a:bodyPr>
          <a:lstStyle/>
          <a:p>
            <a:pPr algn="ctr">
              <a:lnSpc>
                <a:spcPts val="1031"/>
              </a:lnSpc>
            </a:pPr>
            <a:r>
              <a:rPr sz="825" b="0" i="0" u="none">
                <a:solidFill>
                  <a:srgbClr val="FFFFFF"/>
                </a:solidFill>
                <a:latin typeface="Inter"/>
              </a:rPr>
              <a:t>Evaluate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04800" y="1247775"/>
            <a:ext cx="11582400" cy="2028825"/>
          </a:xfrm>
          <a:prstGeom prst="rect">
            <a:avLst/>
          </a:prstGeom>
        </p:spPr>
      </p:pic>
      <p:pic>
        <p:nvPicPr>
          <p:cNvPr id="3" name="Picture 2" descr="image.png"/>
          <p:cNvPicPr>
            <a:picLocks noChangeAspect="1"/>
          </p:cNvPicPr>
          <p:nvPr/>
        </p:nvPicPr>
        <p:blipFill>
          <a:blip r:embed="rId3"/>
          <a:stretch>
            <a:fillRect/>
          </a:stretch>
        </p:blipFill>
        <p:spPr>
          <a:xfrm>
            <a:off x="428625" y="1604962"/>
            <a:ext cx="2205930" cy="495300"/>
          </a:xfrm>
          <a:prstGeom prst="rect">
            <a:avLst/>
          </a:prstGeom>
        </p:spPr>
      </p:pic>
      <p:pic>
        <p:nvPicPr>
          <p:cNvPr id="4" name="Picture 3" descr="image.png"/>
          <p:cNvPicPr>
            <a:picLocks noChangeAspect="1"/>
          </p:cNvPicPr>
          <p:nvPr/>
        </p:nvPicPr>
        <p:blipFill>
          <a:blip r:embed="rId3"/>
          <a:stretch>
            <a:fillRect/>
          </a:stretch>
        </p:blipFill>
        <p:spPr>
          <a:xfrm>
            <a:off x="2710755" y="1604962"/>
            <a:ext cx="2205930" cy="495300"/>
          </a:xfrm>
          <a:prstGeom prst="rect">
            <a:avLst/>
          </a:prstGeom>
        </p:spPr>
      </p:pic>
      <p:pic>
        <p:nvPicPr>
          <p:cNvPr id="5" name="Picture 4" descr="image.png"/>
          <p:cNvPicPr>
            <a:picLocks noChangeAspect="1"/>
          </p:cNvPicPr>
          <p:nvPr/>
        </p:nvPicPr>
        <p:blipFill>
          <a:blip r:embed="rId3"/>
          <a:stretch>
            <a:fillRect/>
          </a:stretch>
        </p:blipFill>
        <p:spPr>
          <a:xfrm>
            <a:off x="4992885" y="1604962"/>
            <a:ext cx="2206079" cy="495300"/>
          </a:xfrm>
          <a:prstGeom prst="rect">
            <a:avLst/>
          </a:prstGeom>
        </p:spPr>
      </p:pic>
      <p:pic>
        <p:nvPicPr>
          <p:cNvPr id="6" name="Picture 5" descr="image.png"/>
          <p:cNvPicPr>
            <a:picLocks noChangeAspect="1"/>
          </p:cNvPicPr>
          <p:nvPr/>
        </p:nvPicPr>
        <p:blipFill>
          <a:blip r:embed="rId4"/>
          <a:stretch>
            <a:fillRect/>
          </a:stretch>
        </p:blipFill>
        <p:spPr>
          <a:xfrm>
            <a:off x="7275165" y="1604962"/>
            <a:ext cx="2205930" cy="495300"/>
          </a:xfrm>
          <a:prstGeom prst="rect">
            <a:avLst/>
          </a:prstGeom>
        </p:spPr>
      </p:pic>
      <p:pic>
        <p:nvPicPr>
          <p:cNvPr id="7" name="Picture 6" descr="image.png"/>
          <p:cNvPicPr>
            <a:picLocks noChangeAspect="1"/>
          </p:cNvPicPr>
          <p:nvPr/>
        </p:nvPicPr>
        <p:blipFill>
          <a:blip r:embed="rId5"/>
          <a:stretch>
            <a:fillRect/>
          </a:stretch>
        </p:blipFill>
        <p:spPr>
          <a:xfrm>
            <a:off x="9557295" y="1604962"/>
            <a:ext cx="2206079" cy="495300"/>
          </a:xfrm>
          <a:prstGeom prst="rect">
            <a:avLst/>
          </a:prstGeom>
        </p:spPr>
      </p:pic>
      <p:sp>
        <p:nvSpPr>
          <p:cNvPr id="8" name="Rounded Rectangle 7"/>
          <p:cNvSpPr/>
          <p:nvPr/>
        </p:nvSpPr>
        <p:spPr>
          <a:xfrm>
            <a:off x="304800" y="5991225"/>
            <a:ext cx="11582400" cy="323850"/>
          </a:xfrm>
          <a:prstGeom prst="roundRect">
            <a:avLst>
              <a:gd name="adj" fmla="val 23529"/>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04800" y="3429000"/>
            <a:ext cx="11582400" cy="2486025"/>
          </a:xfrm>
          <a:prstGeom prst="roundRect">
            <a:avLst>
              <a:gd name="adj" fmla="val 4597"/>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14325" y="3438525"/>
            <a:ext cx="11563350" cy="280987"/>
          </a:xfrm>
          <a:prstGeom prst="round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10210502" y="4090987"/>
            <a:ext cx="1019175" cy="152400"/>
          </a:xfrm>
          <a:prstGeom prst="roundRect">
            <a:avLst>
              <a:gd name="adj" fmla="val 25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0210502" y="4367212"/>
            <a:ext cx="1019175" cy="152400"/>
          </a:xfrm>
          <a:prstGeom prst="roundRect">
            <a:avLst>
              <a:gd name="adj" fmla="val 25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10210502" y="4643437"/>
            <a:ext cx="1162050" cy="152400"/>
          </a:xfrm>
          <a:prstGeom prst="roundRect">
            <a:avLst>
              <a:gd name="adj" fmla="val 25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0515302" y="304800"/>
            <a:ext cx="1577682"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Pipeline &amp; Artifacts</a:t>
            </a:r>
          </a:p>
        </p:txBody>
      </p:sp>
      <p:sp>
        <p:nvSpPr>
          <p:cNvPr id="16" name="TextBox 15"/>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Detection Pipeline &amp; Evidence Inventory</a:t>
            </a:r>
          </a:p>
        </p:txBody>
      </p:sp>
      <p:sp>
        <p:nvSpPr>
          <p:cNvPr id="17" name="TextBox 16"/>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Multimodal scoring and illustrative technical evidence inventory.</a:t>
            </a:r>
          </a:p>
        </p:txBody>
      </p:sp>
      <p:sp>
        <p:nvSpPr>
          <p:cNvPr id="18" name="TextBox 17"/>
          <p:cNvSpPr txBox="1"/>
          <p:nvPr/>
        </p:nvSpPr>
        <p:spPr>
          <a:xfrm>
            <a:off x="10103792" y="6076950"/>
            <a:ext cx="1952334" cy="152400"/>
          </a:xfrm>
          <a:prstGeom prst="rect">
            <a:avLst/>
          </a:prstGeom>
          <a:noFill/>
        </p:spPr>
        <p:txBody>
          <a:bodyPr wrap="square" lIns="0" tIns="0" rIns="0" bIns="0" anchor="t">
            <a:spAutoFit/>
          </a:bodyPr>
          <a:lstStyle/>
          <a:p>
            <a:pPr algn="l">
              <a:lnSpc>
                <a:spcPts val="1200"/>
              </a:lnSpc>
            </a:pPr>
            <a:r>
              <a:rPr sz="825" b="0" i="0" u="none">
                <a:solidFill>
                  <a:srgbClr val="64748B"/>
                </a:solidFill>
                <a:latin typeface="ui-monospace"/>
              </a:rPr>
              <a:t>Structured Inventory Format</a:t>
            </a:r>
          </a:p>
        </p:txBody>
      </p:sp>
      <p:sp>
        <p:nvSpPr>
          <p:cNvPr id="19" name="TextBox 18"/>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20" name="TextBox 19"/>
          <p:cNvSpPr txBox="1"/>
          <p:nvPr/>
        </p:nvSpPr>
        <p:spPr>
          <a:xfrm>
            <a:off x="11610975" y="6400800"/>
            <a:ext cx="317658"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9 / 11</a:t>
            </a:r>
          </a:p>
        </p:txBody>
      </p:sp>
      <p:sp>
        <p:nvSpPr>
          <p:cNvPr id="21" name="TextBox 20"/>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22" name="TextBox 21"/>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23" name="TextBox 22"/>
          <p:cNvSpPr txBox="1"/>
          <p:nvPr/>
        </p:nvSpPr>
        <p:spPr>
          <a:xfrm>
            <a:off x="944909" y="304800"/>
            <a:ext cx="1204912"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Evidence Workflow</a:t>
            </a:r>
          </a:p>
        </p:txBody>
      </p:sp>
      <p:sp>
        <p:nvSpPr>
          <p:cNvPr id="24" name="TextBox 23"/>
          <p:cNvSpPr txBox="1"/>
          <p:nvPr/>
        </p:nvSpPr>
        <p:spPr>
          <a:xfrm>
            <a:off x="428625" y="1371600"/>
            <a:ext cx="11763375" cy="157162"/>
          </a:xfrm>
          <a:prstGeom prst="rect">
            <a:avLst/>
          </a:prstGeom>
          <a:noFill/>
        </p:spPr>
        <p:txBody>
          <a:bodyPr wrap="square" lIns="0" tIns="0" rIns="0" bIns="0" anchor="t">
            <a:spAutoFit/>
          </a:bodyPr>
          <a:lstStyle/>
          <a:p>
            <a:pPr algn="l">
              <a:lnSpc>
                <a:spcPts val="1237"/>
              </a:lnSpc>
            </a:pPr>
            <a:r>
              <a:rPr sz="825" b="1" i="0" u="none" spc="41">
                <a:solidFill>
                  <a:srgbClr val="1D4ED8"/>
                </a:solidFill>
                <a:latin typeface="Inter"/>
              </a:rPr>
              <a:t>DETECTION PIPELINE: 5-STEP MULTIMODAL VERIFICATION</a:t>
            </a:r>
          </a:p>
        </p:txBody>
      </p:sp>
      <p:graphicFrame>
        <p:nvGraphicFramePr>
          <p:cNvPr id="25" name="Table 24"/>
          <p:cNvGraphicFramePr>
            <a:graphicFrameLocks noGrp="1"/>
          </p:cNvGraphicFramePr>
          <p:nvPr/>
        </p:nvGraphicFramePr>
        <p:xfrm>
          <a:off x="314325" y="3719512"/>
          <a:ext cx="11563347" cy="1133475"/>
        </p:xfrm>
        <a:graphic>
          <a:graphicData uri="http://schemas.openxmlformats.org/drawingml/2006/table">
            <a:tbl>
              <a:tblPr/>
              <a:tblGrid>
                <a:gridCol w="1742479">
                  <a:extLst>
                    <a:ext uri="{9D8B030D-6E8A-4147-A177-3AD203B41FA5}">
                      <a16:colId xmlns:a16="http://schemas.microsoft.com/office/drawing/2014/main" val="20000"/>
                    </a:ext>
                  </a:extLst>
                </a:gridCol>
                <a:gridCol w="1207740">
                  <a:extLst>
                    <a:ext uri="{9D8B030D-6E8A-4147-A177-3AD203B41FA5}">
                      <a16:colId xmlns:a16="http://schemas.microsoft.com/office/drawing/2014/main" val="20001"/>
                    </a:ext>
                  </a:extLst>
                </a:gridCol>
                <a:gridCol w="1439465">
                  <a:extLst>
                    <a:ext uri="{9D8B030D-6E8A-4147-A177-3AD203B41FA5}">
                      <a16:colId xmlns:a16="http://schemas.microsoft.com/office/drawing/2014/main" val="20002"/>
                    </a:ext>
                  </a:extLst>
                </a:gridCol>
                <a:gridCol w="2037308">
                  <a:extLst>
                    <a:ext uri="{9D8B030D-6E8A-4147-A177-3AD203B41FA5}">
                      <a16:colId xmlns:a16="http://schemas.microsoft.com/office/drawing/2014/main" val="20003"/>
                    </a:ext>
                  </a:extLst>
                </a:gridCol>
                <a:gridCol w="1610320">
                  <a:extLst>
                    <a:ext uri="{9D8B030D-6E8A-4147-A177-3AD203B41FA5}">
                      <a16:colId xmlns:a16="http://schemas.microsoft.com/office/drawing/2014/main" val="20004"/>
                    </a:ext>
                  </a:extLst>
                </a:gridCol>
                <a:gridCol w="1744563">
                  <a:extLst>
                    <a:ext uri="{9D8B030D-6E8A-4147-A177-3AD203B41FA5}">
                      <a16:colId xmlns:a16="http://schemas.microsoft.com/office/drawing/2014/main" val="20005"/>
                    </a:ext>
                  </a:extLst>
                </a:gridCol>
                <a:gridCol w="1781472">
                  <a:extLst>
                    <a:ext uri="{9D8B030D-6E8A-4147-A177-3AD203B41FA5}">
                      <a16:colId xmlns:a16="http://schemas.microsoft.com/office/drawing/2014/main" val="20006"/>
                    </a:ext>
                  </a:extLst>
                </a:gridCol>
              </a:tblGrid>
              <a:tr h="283368">
                <a:tc>
                  <a:txBody>
                    <a:bodyPr/>
                    <a:lstStyle/>
                    <a:p>
                      <a:pPr algn="l"/>
                      <a:r>
                        <a:rPr sz="825" b="1" i="0" u="none">
                          <a:solidFill>
                            <a:srgbClr val="334155"/>
                          </a:solidFill>
                          <a:latin typeface="Inter"/>
                        </a:rPr>
                        <a:t>Source / Table</a:t>
                      </a:r>
                    </a:p>
                  </a:txBody>
                  <a:tcPr marL="63500" marR="63500" marT="25400" marB="25400" anchor="ctr">
                    <a:lnL>
                      <a:noFill/>
                    </a:lnL>
                    <a:lnR>
                      <a:noFill/>
                    </a:lnR>
                    <a:lnT>
                      <a:noFill/>
                    </a:lnT>
                    <a:lnB>
                      <a:noFill/>
                    </a:lnB>
                    <a:solidFill>
                      <a:srgbClr val="F8FAFC"/>
                    </a:solidFill>
                  </a:tcPr>
                </a:tc>
                <a:tc>
                  <a:txBody>
                    <a:bodyPr/>
                    <a:lstStyle/>
                    <a:p>
                      <a:pPr algn="l"/>
                      <a:r>
                        <a:rPr sz="825" b="1" i="0" u="none">
                          <a:solidFill>
                            <a:srgbClr val="334155"/>
                          </a:solidFill>
                          <a:latin typeface="Inter"/>
                        </a:rPr>
                        <a:t>Column Name</a:t>
                      </a:r>
                    </a:p>
                  </a:txBody>
                  <a:tcPr marL="63500" marR="63500" marT="25400" marB="25400" anchor="ctr">
                    <a:lnL>
                      <a:noFill/>
                    </a:lnL>
                    <a:lnR>
                      <a:noFill/>
                    </a:lnR>
                    <a:lnT>
                      <a:noFill/>
                    </a:lnT>
                    <a:lnB>
                      <a:noFill/>
                    </a:lnB>
                    <a:solidFill>
                      <a:srgbClr val="F8FAFC"/>
                    </a:solidFill>
                  </a:tcPr>
                </a:tc>
                <a:tc>
                  <a:txBody>
                    <a:bodyPr/>
                    <a:lstStyle/>
                    <a:p>
                      <a:pPr algn="l"/>
                      <a:r>
                        <a:rPr sz="825" b="1" i="0" u="none">
                          <a:solidFill>
                            <a:srgbClr val="334155"/>
                          </a:solidFill>
                          <a:latin typeface="Inter"/>
                        </a:rPr>
                        <a:t>Candidate Class</a:t>
                      </a:r>
                    </a:p>
                  </a:txBody>
                  <a:tcPr marL="63500" marR="63500" marT="25400" marB="25400" anchor="ctr">
                    <a:lnL>
                      <a:noFill/>
                    </a:lnL>
                    <a:lnR>
                      <a:noFill/>
                    </a:lnR>
                    <a:lnT>
                      <a:noFill/>
                    </a:lnT>
                    <a:lnB>
                      <a:noFill/>
                    </a:lnB>
                    <a:solidFill>
                      <a:srgbClr val="F8FAFC"/>
                    </a:solidFill>
                  </a:tcPr>
                </a:tc>
                <a:tc>
                  <a:txBody>
                    <a:bodyPr/>
                    <a:lstStyle/>
                    <a:p>
                      <a:pPr algn="l"/>
                      <a:r>
                        <a:rPr sz="825" b="1" i="0" u="none">
                          <a:solidFill>
                            <a:srgbClr val="334155"/>
                          </a:solidFill>
                          <a:latin typeface="Inter"/>
                        </a:rPr>
                        <a:t>Detection Evidence</a:t>
                      </a:r>
                    </a:p>
                  </a:txBody>
                  <a:tcPr marL="63500" marR="63500" marT="25400" marB="25400" anchor="ctr">
                    <a:lnL>
                      <a:noFill/>
                    </a:lnL>
                    <a:lnR>
                      <a:noFill/>
                    </a:lnR>
                    <a:lnT>
                      <a:noFill/>
                    </a:lnT>
                    <a:lnB>
                      <a:noFill/>
                    </a:lnB>
                    <a:solidFill>
                      <a:srgbClr val="F8FAFC"/>
                    </a:solidFill>
                  </a:tcPr>
                </a:tc>
                <a:tc>
                  <a:txBody>
                    <a:bodyPr/>
                    <a:lstStyle/>
                    <a:p>
                      <a:pPr algn="l"/>
                      <a:r>
                        <a:rPr sz="825" b="1" i="0" u="none">
                          <a:solidFill>
                            <a:srgbClr val="334155"/>
                          </a:solidFill>
                          <a:latin typeface="Inter"/>
                        </a:rPr>
                        <a:t>Declared Purpose</a:t>
                      </a:r>
                    </a:p>
                  </a:txBody>
                  <a:tcPr marL="63500" marR="63500" marT="25400" marB="25400" anchor="ctr">
                    <a:lnL>
                      <a:noFill/>
                    </a:lnL>
                    <a:lnR>
                      <a:noFill/>
                    </a:lnR>
                    <a:lnT>
                      <a:noFill/>
                    </a:lnT>
                    <a:lnB>
                      <a:noFill/>
                    </a:lnB>
                    <a:solidFill>
                      <a:srgbClr val="F8FAFC"/>
                    </a:solidFill>
                  </a:tcPr>
                </a:tc>
                <a:tc>
                  <a:txBody>
                    <a:bodyPr/>
                    <a:lstStyle/>
                    <a:p>
                      <a:pPr algn="l"/>
                      <a:r>
                        <a:rPr sz="825" b="1" i="0" u="none">
                          <a:solidFill>
                            <a:srgbClr val="334155"/>
                          </a:solidFill>
                          <a:latin typeface="Inter"/>
                        </a:rPr>
                        <a:t>Retention Schedule</a:t>
                      </a:r>
                    </a:p>
                  </a:txBody>
                  <a:tcPr marL="63500" marR="63500" marT="25400" marB="25400" anchor="ctr">
                    <a:lnL>
                      <a:noFill/>
                    </a:lnL>
                    <a:lnR>
                      <a:noFill/>
                    </a:lnR>
                    <a:lnT>
                      <a:noFill/>
                    </a:lnT>
                    <a:lnB>
                      <a:noFill/>
                    </a:lnB>
                    <a:solidFill>
                      <a:srgbClr val="F8FAFC"/>
                    </a:solidFill>
                  </a:tcPr>
                </a:tc>
                <a:tc>
                  <a:txBody>
                    <a:bodyPr/>
                    <a:lstStyle/>
                    <a:p>
                      <a:pPr algn="l"/>
                      <a:r>
                        <a:rPr sz="825" b="1" i="0" u="none">
                          <a:solidFill>
                            <a:srgbClr val="334155"/>
                          </a:solidFill>
                          <a:latin typeface="Inter"/>
                        </a:rPr>
                        <a:t>Review Status</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0"/>
                  </a:ext>
                </a:extLst>
              </a:tr>
              <a:tr h="283368">
                <a:tc>
                  <a:txBody>
                    <a:bodyPr/>
                    <a:lstStyle/>
                    <a:p>
                      <a:pPr algn="l"/>
                      <a:r>
                        <a:rPr sz="825" b="0" i="0" u="none">
                          <a:solidFill>
                            <a:srgbClr val="334155"/>
                          </a:solidFill>
                          <a:latin typeface="ui-monospace"/>
                        </a:rPr>
                        <a:t>users.sqlite / acc</a:t>
                      </a:r>
                    </a:p>
                  </a:txBody>
                  <a:tcPr marL="63500" marR="63500" marT="25400" marB="25400" anchor="ctr">
                    <a:lnL>
                      <a:noFill/>
                    </a:lnL>
                    <a:lnR>
                      <a:noFill/>
                    </a:lnR>
                    <a:lnT>
                      <a:noFill/>
                    </a:lnT>
                    <a:lnB>
                      <a:noFill/>
                    </a:lnB>
                    <a:noFill/>
                  </a:tcPr>
                </a:tc>
                <a:tc>
                  <a:txBody>
                    <a:bodyPr/>
                    <a:lstStyle/>
                    <a:p>
                      <a:pPr algn="l"/>
                      <a:r>
                        <a:rPr sz="825" b="1" i="0" u="none">
                          <a:solidFill>
                            <a:srgbClr val="1D4ED8"/>
                          </a:solidFill>
                          <a:latin typeface="ui-monospace"/>
                        </a:rPr>
                        <a:t>usr_contact</a:t>
                      </a:r>
                    </a:p>
                  </a:txBody>
                  <a:tcPr marL="63500" marR="63500" marT="25400" marB="25400" anchor="ctr">
                    <a:lnL>
                      <a:noFill/>
                    </a:lnL>
                    <a:lnR>
                      <a:noFill/>
                    </a:lnR>
                    <a:lnT>
                      <a:noFill/>
                    </a:lnT>
                    <a:lnB>
                      <a:noFill/>
                    </a:lnB>
                    <a:noFill/>
                  </a:tcPr>
                </a:tc>
                <a:tc>
                  <a:txBody>
                    <a:bodyPr/>
                    <a:lstStyle/>
                    <a:p>
                      <a:pPr algn="l"/>
                      <a:r>
                        <a:rPr sz="825" b="0" i="0" u="none">
                          <a:solidFill>
                            <a:srgbClr val="334155"/>
                          </a:solidFill>
                          <a:latin typeface="Inter"/>
                        </a:rPr>
                        <a:t>Phone number</a:t>
                      </a:r>
                    </a:p>
                  </a:txBody>
                  <a:tcPr marL="63500" marR="63500" marT="25400" marB="25400" anchor="ctr">
                    <a:lnL>
                      <a:noFill/>
                    </a:lnL>
                    <a:lnR>
                      <a:noFill/>
                    </a:lnR>
                    <a:lnT>
                      <a:noFill/>
                    </a:lnT>
                    <a:lnB>
                      <a:noFill/>
                    </a:lnB>
                    <a:noFill/>
                  </a:tcPr>
                </a:tc>
                <a:tc>
                  <a:txBody>
                    <a:bodyPr/>
                    <a:lstStyle/>
                    <a:p>
                      <a:pPr algn="l"/>
                      <a:r>
                        <a:rPr sz="825" b="0" i="0" u="none">
                          <a:solidFill>
                            <a:srgbClr val="64748B"/>
                          </a:solidFill>
                          <a:latin typeface="Inter"/>
                        </a:rPr>
                        <a:t>10-digit regex match</a:t>
                      </a:r>
                    </a:p>
                  </a:txBody>
                  <a:tcPr marL="63500" marR="63500" marT="25400" marB="25400" anchor="ctr">
                    <a:lnL>
                      <a:noFill/>
                    </a:lnL>
                    <a:lnR>
                      <a:noFill/>
                    </a:lnR>
                    <a:lnT>
                      <a:noFill/>
                    </a:lnT>
                    <a:lnB>
                      <a:noFill/>
                    </a:lnB>
                    <a:noFill/>
                  </a:tcPr>
                </a:tc>
                <a:tc>
                  <a:txBody>
                    <a:bodyPr/>
                    <a:lstStyle/>
                    <a:p>
                      <a:pPr algn="l"/>
                      <a:r>
                        <a:rPr sz="825" b="0" i="0" u="none">
                          <a:solidFill>
                            <a:srgbClr val="334155"/>
                          </a:solidFill>
                          <a:latin typeface="Inter"/>
                        </a:rPr>
                        <a:t>2FA Security</a:t>
                      </a:r>
                    </a:p>
                  </a:txBody>
                  <a:tcPr marL="63500" marR="63500" marT="25400" marB="25400" anchor="ctr">
                    <a:lnL>
                      <a:noFill/>
                    </a:lnL>
                    <a:lnR>
                      <a:noFill/>
                    </a:lnR>
                    <a:lnT>
                      <a:noFill/>
                    </a:lnT>
                    <a:lnB>
                      <a:noFill/>
                    </a:lnB>
                    <a:noFill/>
                  </a:tcPr>
                </a:tc>
                <a:tc>
                  <a:txBody>
                    <a:bodyPr/>
                    <a:lstStyle/>
                    <a:p>
                      <a:pPr algn="l"/>
                      <a:r>
                        <a:rPr sz="825" b="0" i="0" u="none">
                          <a:solidFill>
                            <a:srgbClr val="334155"/>
                          </a:solidFill>
                          <a:latin typeface="Inter"/>
                        </a:rPr>
                        <a:t>Closure + 180d</a:t>
                      </a:r>
                    </a:p>
                  </a:txBody>
                  <a:tcPr marL="63500" marR="63500" marT="25400" marB="25400" anchor="ctr">
                    <a:lnL>
                      <a:noFill/>
                    </a:lnL>
                    <a:lnR>
                      <a:noFill/>
                    </a:lnR>
                    <a:lnT>
                      <a:noFill/>
                    </a:lnT>
                    <a:lnB>
                      <a:noFill/>
                    </a:lnB>
                    <a:noFill/>
                  </a:tcPr>
                </a:tc>
                <a:tc>
                  <a:txBody>
                    <a:bodyPr/>
                    <a:lstStyle/>
                    <a:p>
                      <a:pPr algn="l"/>
                      <a:r>
                        <a:rPr sz="825" b="0" i="0" u="none">
                          <a:solidFill>
                            <a:srgbClr val="334155"/>
                          </a:solidFill>
                          <a:latin typeface="Inter"/>
                        </a:rPr>
                        <a:t>Verified Candidate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1"/>
                  </a:ext>
                </a:extLst>
              </a:tr>
              <a:tr h="283368">
                <a:tc>
                  <a:txBody>
                    <a:bodyPr/>
                    <a:lstStyle/>
                    <a:p>
                      <a:pPr algn="l"/>
                      <a:r>
                        <a:rPr sz="825" b="0" i="0" u="none">
                          <a:solidFill>
                            <a:srgbClr val="334155"/>
                          </a:solidFill>
                          <a:latin typeface="ui-monospace"/>
                        </a:rPr>
                        <a:t>onboarding.csv</a:t>
                      </a:r>
                    </a:p>
                  </a:txBody>
                  <a:tcPr marL="63500" marR="63500" marT="25400" marB="25400" anchor="ctr">
                    <a:lnL>
                      <a:noFill/>
                    </a:lnL>
                    <a:lnR>
                      <a:noFill/>
                    </a:lnR>
                    <a:lnT>
                      <a:noFill/>
                    </a:lnT>
                    <a:lnB>
                      <a:noFill/>
                    </a:lnB>
                    <a:noFill/>
                  </a:tcPr>
                </a:tc>
                <a:tc>
                  <a:txBody>
                    <a:bodyPr/>
                    <a:lstStyle/>
                    <a:p>
                      <a:pPr algn="l"/>
                      <a:r>
                        <a:rPr sz="825" b="1" i="0" u="none">
                          <a:solidFill>
                            <a:srgbClr val="1D4ED8"/>
                          </a:solidFill>
                          <a:latin typeface="ui-monospace"/>
                        </a:rPr>
                        <a:t>national_id</a:t>
                      </a:r>
                    </a:p>
                  </a:txBody>
                  <a:tcPr marL="63500" marR="63500" marT="25400" marB="25400" anchor="ctr">
                    <a:lnL>
                      <a:noFill/>
                    </a:lnL>
                    <a:lnR>
                      <a:noFill/>
                    </a:lnR>
                    <a:lnT>
                      <a:noFill/>
                    </a:lnT>
                    <a:lnB>
                      <a:noFill/>
                    </a:lnB>
                    <a:noFill/>
                  </a:tcPr>
                </a:tc>
                <a:tc>
                  <a:txBody>
                    <a:bodyPr/>
                    <a:lstStyle/>
                    <a:p>
                      <a:pPr algn="l"/>
                      <a:r>
                        <a:rPr sz="825" b="0" i="0" u="none">
                          <a:solidFill>
                            <a:srgbClr val="334155"/>
                          </a:solidFill>
                          <a:latin typeface="Inter"/>
                        </a:rPr>
                        <a:t>Govt ID (Aadhaar)</a:t>
                      </a:r>
                    </a:p>
                  </a:txBody>
                  <a:tcPr marL="63500" marR="63500" marT="25400" marB="25400" anchor="ctr">
                    <a:lnL>
                      <a:noFill/>
                    </a:lnL>
                    <a:lnR>
                      <a:noFill/>
                    </a:lnR>
                    <a:lnT>
                      <a:noFill/>
                    </a:lnT>
                    <a:lnB>
                      <a:noFill/>
                    </a:lnB>
                    <a:noFill/>
                  </a:tcPr>
                </a:tc>
                <a:tc>
                  <a:txBody>
                    <a:bodyPr/>
                    <a:lstStyle/>
                    <a:p>
                      <a:pPr algn="l"/>
                      <a:r>
                        <a:rPr sz="825" b="0" i="0" u="none">
                          <a:solidFill>
                            <a:srgbClr val="64748B"/>
                          </a:solidFill>
                          <a:latin typeface="Inter"/>
                        </a:rPr>
                        <a:t>Verhoeff checksum passed</a:t>
                      </a:r>
                    </a:p>
                  </a:txBody>
                  <a:tcPr marL="63500" marR="63500" marT="25400" marB="25400" anchor="ctr">
                    <a:lnL>
                      <a:noFill/>
                    </a:lnL>
                    <a:lnR>
                      <a:noFill/>
                    </a:lnR>
                    <a:lnT>
                      <a:noFill/>
                    </a:lnT>
                    <a:lnB>
                      <a:noFill/>
                    </a:lnB>
                    <a:noFill/>
                  </a:tcPr>
                </a:tc>
                <a:tc>
                  <a:txBody>
                    <a:bodyPr/>
                    <a:lstStyle/>
                    <a:p>
                      <a:pPr algn="l"/>
                      <a:r>
                        <a:rPr sz="825" b="0" i="0" u="none">
                          <a:solidFill>
                            <a:srgbClr val="334155"/>
                          </a:solidFill>
                          <a:latin typeface="Inter"/>
                        </a:rPr>
                        <a:t>KYC Identity</a:t>
                      </a:r>
                    </a:p>
                  </a:txBody>
                  <a:tcPr marL="63500" marR="63500" marT="25400" marB="25400" anchor="ctr">
                    <a:lnL>
                      <a:noFill/>
                    </a:lnL>
                    <a:lnR>
                      <a:noFill/>
                    </a:lnR>
                    <a:lnT>
                      <a:noFill/>
                    </a:lnT>
                    <a:lnB>
                      <a:noFill/>
                    </a:lnB>
                    <a:noFill/>
                  </a:tcPr>
                </a:tc>
                <a:tc>
                  <a:txBody>
                    <a:bodyPr/>
                    <a:lstStyle/>
                    <a:p>
                      <a:pPr algn="l"/>
                      <a:r>
                        <a:rPr sz="825" b="0" i="0" u="none">
                          <a:solidFill>
                            <a:srgbClr val="334155"/>
                          </a:solidFill>
                          <a:latin typeface="Inter"/>
                        </a:rPr>
                        <a:t>Statutory (7 yrs)</a:t>
                      </a:r>
                    </a:p>
                  </a:txBody>
                  <a:tcPr marL="63500" marR="63500" marT="25400" marB="25400" anchor="ctr">
                    <a:lnL>
                      <a:noFill/>
                    </a:lnL>
                    <a:lnR>
                      <a:noFill/>
                    </a:lnR>
                    <a:lnT>
                      <a:noFill/>
                    </a:lnT>
                    <a:lnB>
                      <a:noFill/>
                    </a:lnB>
                    <a:noFill/>
                  </a:tcPr>
                </a:tc>
                <a:tc>
                  <a:txBody>
                    <a:bodyPr/>
                    <a:lstStyle/>
                    <a:p>
                      <a:pPr algn="l"/>
                      <a:r>
                        <a:rPr sz="825" b="0" i="0" u="none">
                          <a:solidFill>
                            <a:srgbClr val="334155"/>
                          </a:solidFill>
                          <a:latin typeface="Inter"/>
                        </a:rPr>
                        <a:t>Verified Candidate</a:t>
                      </a:r>
                    </a:p>
                  </a:txBody>
                  <a:tcPr marL="63500" marR="63500" marT="25400" marB="25400" anchor="ctr">
                    <a:lnL>
                      <a:noFill/>
                    </a:lnL>
                    <a:lnR>
                      <a:noFill/>
                    </a:lnR>
                    <a:lnT>
                      <a:noFill/>
                    </a:lnT>
                    <a:lnB>
                      <a:noFill/>
                    </a:lnB>
                    <a:noFill/>
                  </a:tcPr>
                </a:tc>
                <a:extLst>
                  <a:ext uri="{0D108BD9-81ED-4DB2-BD59-A6C34878D82A}">
                    <a16:rowId xmlns:a16="http://schemas.microsoft.com/office/drawing/2014/main" val="10002"/>
                  </a:ext>
                </a:extLst>
              </a:tr>
              <a:tr h="283371">
                <a:tc>
                  <a:txBody>
                    <a:bodyPr/>
                    <a:lstStyle/>
                    <a:p>
                      <a:pPr algn="l"/>
                      <a:r>
                        <a:rPr sz="825" b="0" i="0" u="none">
                          <a:solidFill>
                            <a:srgbClr val="334155"/>
                          </a:solidFill>
                          <a:latin typeface="ui-monospace"/>
                        </a:rPr>
                        <a:t>temp_dump.csv</a:t>
                      </a:r>
                    </a:p>
                  </a:txBody>
                  <a:tcPr marL="63500" marR="63500" marT="25400" marB="25400" anchor="ctr">
                    <a:lnL>
                      <a:noFill/>
                    </a:lnL>
                    <a:lnR>
                      <a:noFill/>
                    </a:lnR>
                    <a:lnT>
                      <a:noFill/>
                    </a:lnT>
                    <a:lnB>
                      <a:noFill/>
                    </a:lnB>
                    <a:solidFill>
                      <a:srgbClr val="FEF2F2">
                        <a:alpha val="30000"/>
                      </a:srgbClr>
                    </a:solidFill>
                  </a:tcPr>
                </a:tc>
                <a:tc>
                  <a:txBody>
                    <a:bodyPr/>
                    <a:lstStyle/>
                    <a:p>
                      <a:pPr algn="l"/>
                      <a:r>
                        <a:rPr sz="825" b="1" i="0" u="none">
                          <a:solidFill>
                            <a:srgbClr val="B91C1C"/>
                          </a:solidFill>
                          <a:latin typeface="ui-monospace"/>
                        </a:rPr>
                        <a:t>tmp_mail</a:t>
                      </a:r>
                    </a:p>
                  </a:txBody>
                  <a:tcPr marL="63500" marR="63500" marT="25400" marB="25400" anchor="ctr">
                    <a:lnL>
                      <a:noFill/>
                    </a:lnL>
                    <a:lnR>
                      <a:noFill/>
                    </a:lnR>
                    <a:lnT>
                      <a:noFill/>
                    </a:lnT>
                    <a:lnB>
                      <a:noFill/>
                    </a:lnB>
                    <a:solidFill>
                      <a:srgbClr val="FEF2F2">
                        <a:alpha val="30000"/>
                      </a:srgbClr>
                    </a:solidFill>
                  </a:tcPr>
                </a:tc>
                <a:tc>
                  <a:txBody>
                    <a:bodyPr/>
                    <a:lstStyle/>
                    <a:p>
                      <a:pPr algn="l"/>
                      <a:r>
                        <a:rPr sz="825" b="0" i="0" u="none">
                          <a:solidFill>
                            <a:srgbClr val="334155"/>
                          </a:solidFill>
                          <a:latin typeface="Inter"/>
                        </a:rPr>
                        <a:t>Email address</a:t>
                      </a:r>
                    </a:p>
                  </a:txBody>
                  <a:tcPr marL="63500" marR="63500" marT="25400" marB="25400" anchor="ctr">
                    <a:lnL>
                      <a:noFill/>
                    </a:lnL>
                    <a:lnR>
                      <a:noFill/>
                    </a:lnR>
                    <a:lnT>
                      <a:noFill/>
                    </a:lnT>
                    <a:lnB>
                      <a:noFill/>
                    </a:lnB>
                    <a:solidFill>
                      <a:srgbClr val="FEF2F2">
                        <a:alpha val="30000"/>
                      </a:srgbClr>
                    </a:solidFill>
                  </a:tcPr>
                </a:tc>
                <a:tc>
                  <a:txBody>
                    <a:bodyPr/>
                    <a:lstStyle/>
                    <a:p>
                      <a:pPr algn="l"/>
                      <a:r>
                        <a:rPr sz="825" b="0" i="0" u="none">
                          <a:solidFill>
                            <a:srgbClr val="64748B"/>
                          </a:solidFill>
                          <a:latin typeface="Inter"/>
                        </a:rPr>
                        <a:t>RFC 5322 regex match</a:t>
                      </a:r>
                    </a:p>
                  </a:txBody>
                  <a:tcPr marL="63500" marR="63500" marT="25400" marB="25400" anchor="ctr">
                    <a:lnL>
                      <a:noFill/>
                    </a:lnL>
                    <a:lnR>
                      <a:noFill/>
                    </a:lnR>
                    <a:lnT>
                      <a:noFill/>
                    </a:lnT>
                    <a:lnB>
                      <a:noFill/>
                    </a:lnB>
                    <a:solidFill>
                      <a:srgbClr val="FEF2F2">
                        <a:alpha val="30000"/>
                      </a:srgbClr>
                    </a:solidFill>
                  </a:tcPr>
                </a:tc>
                <a:tc>
                  <a:txBody>
                    <a:bodyPr/>
                    <a:lstStyle/>
                    <a:p>
                      <a:pPr algn="l"/>
                      <a:r>
                        <a:rPr sz="825" b="1" i="0" u="none">
                          <a:solidFill>
                            <a:srgbClr val="B91C1C"/>
                          </a:solidFill>
                          <a:latin typeface="Inter"/>
                        </a:rPr>
                        <a:t>[MISSING PURPOSE]</a:t>
                      </a:r>
                    </a:p>
                  </a:txBody>
                  <a:tcPr marL="63500" marR="63500" marT="25400" marB="25400" anchor="ctr">
                    <a:lnL>
                      <a:noFill/>
                    </a:lnL>
                    <a:lnR>
                      <a:noFill/>
                    </a:lnR>
                    <a:lnT>
                      <a:noFill/>
                    </a:lnT>
                    <a:lnB>
                      <a:noFill/>
                    </a:lnB>
                    <a:solidFill>
                      <a:srgbClr val="FEF2F2">
                        <a:alpha val="30000"/>
                      </a:srgbClr>
                    </a:solidFill>
                  </a:tcPr>
                </a:tc>
                <a:tc>
                  <a:txBody>
                    <a:bodyPr/>
                    <a:lstStyle/>
                    <a:p>
                      <a:pPr algn="l"/>
                      <a:r>
                        <a:rPr sz="825" b="1" i="0" u="none">
                          <a:solidFill>
                            <a:srgbClr val="B91C1C"/>
                          </a:solidFill>
                          <a:latin typeface="Inter"/>
                        </a:rPr>
                        <a:t>[MISSING RETENTION]</a:t>
                      </a:r>
                    </a:p>
                  </a:txBody>
                  <a:tcPr marL="63500" marR="63500" marT="25400" marB="25400" anchor="ctr">
                    <a:lnL>
                      <a:noFill/>
                    </a:lnL>
                    <a:lnR>
                      <a:noFill/>
                    </a:lnR>
                    <a:lnT>
                      <a:noFill/>
                    </a:lnT>
                    <a:lnB>
                      <a:noFill/>
                    </a:lnB>
                    <a:solidFill>
                      <a:srgbClr val="FEF2F2">
                        <a:alpha val="30000"/>
                      </a:srgbClr>
                    </a:solidFill>
                  </a:tcPr>
                </a:tc>
                <a:tc>
                  <a:txBody>
                    <a:bodyPr/>
                    <a:lstStyle/>
                    <a:p>
                      <a:pPr algn="l"/>
                      <a:r>
                        <a:rPr sz="825" b="0" i="0" u="none">
                          <a:solidFill>
                            <a:srgbClr val="334155"/>
                          </a:solidFill>
                          <a:latin typeface="Inter"/>
                        </a:rPr>
                        <a:t>EVIDENCE GAP FLAG</a:t>
                      </a:r>
                    </a:p>
                  </a:txBody>
                  <a:tcPr marL="63500" marR="63500" marT="25400" marB="25400" anchor="ctr">
                    <a:lnL>
                      <a:noFill/>
                    </a:lnL>
                    <a:lnR>
                      <a:noFill/>
                    </a:lnR>
                    <a:lnT>
                      <a:noFill/>
                    </a:lnT>
                    <a:lnB>
                      <a:noFill/>
                    </a:lnB>
                    <a:solidFill>
                      <a:srgbClr val="FEF2F2">
                        <a:alpha val="30000"/>
                      </a:srgbClr>
                    </a:solidFill>
                  </a:tcPr>
                </a:tc>
                <a:extLst>
                  <a:ext uri="{0D108BD9-81ED-4DB2-BD59-A6C34878D82A}">
                    <a16:rowId xmlns:a16="http://schemas.microsoft.com/office/drawing/2014/main" val="10003"/>
                  </a:ext>
                </a:extLst>
              </a:tr>
            </a:tbl>
          </a:graphicData>
        </a:graphic>
      </p:graphicFrame>
      <p:pic>
        <p:nvPicPr>
          <p:cNvPr id="26" name="Picture 25" descr="image.png"/>
          <p:cNvPicPr>
            <a:picLocks noChangeAspect="1"/>
          </p:cNvPicPr>
          <p:nvPr/>
        </p:nvPicPr>
        <p:blipFill>
          <a:blip r:embed="rId6"/>
          <a:stretch>
            <a:fillRect/>
          </a:stretch>
        </p:blipFill>
        <p:spPr>
          <a:xfrm>
            <a:off x="390525" y="6096000"/>
            <a:ext cx="104775" cy="114300"/>
          </a:xfrm>
          <a:prstGeom prst="rect">
            <a:avLst/>
          </a:prstGeom>
        </p:spPr>
      </p:pic>
      <p:sp>
        <p:nvSpPr>
          <p:cNvPr id="27" name="TextBox 26"/>
          <p:cNvSpPr txBox="1"/>
          <p:nvPr/>
        </p:nvSpPr>
        <p:spPr>
          <a:xfrm>
            <a:off x="571500" y="6076950"/>
            <a:ext cx="7087076"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Missing Metadata Flag:</a:t>
            </a:r>
            <a:r>
              <a:rPr sz="900" b="0" i="0" u="none">
                <a:solidFill>
                  <a:srgbClr val="475569"/>
                </a:solidFill>
                <a:latin typeface="Inter"/>
              </a:rPr>
              <a:t> Automatically surfaces unlinked fields in the gap report to assist human privacy stewards.</a:t>
            </a:r>
          </a:p>
        </p:txBody>
      </p:sp>
      <p:sp>
        <p:nvSpPr>
          <p:cNvPr id="28" name="TextBox 27"/>
          <p:cNvSpPr txBox="1"/>
          <p:nvPr/>
        </p:nvSpPr>
        <p:spPr>
          <a:xfrm>
            <a:off x="428625" y="3495675"/>
            <a:ext cx="4655343" cy="157162"/>
          </a:xfrm>
          <a:prstGeom prst="rect">
            <a:avLst/>
          </a:prstGeom>
          <a:noFill/>
        </p:spPr>
        <p:txBody>
          <a:bodyPr wrap="square" lIns="0" tIns="0" rIns="0" bIns="0" anchor="t">
            <a:spAutoFit/>
          </a:bodyPr>
          <a:lstStyle/>
          <a:p>
            <a:pPr algn="l">
              <a:lnSpc>
                <a:spcPts val="1237"/>
              </a:lnSpc>
            </a:pPr>
            <a:r>
              <a:rPr sz="825" b="1" i="0" u="none">
                <a:solidFill>
                  <a:srgbClr val="1E293B"/>
                </a:solidFill>
                <a:latin typeface="Inter"/>
              </a:rPr>
              <a:t>ILLUSTRATIVE TECHNICAL EVIDENCE INVENTORY (SYNTHETIC DATA EXAMPLE)</a:t>
            </a:r>
          </a:p>
        </p:txBody>
      </p:sp>
      <p:sp>
        <p:nvSpPr>
          <p:cNvPr id="29" name="TextBox 28"/>
          <p:cNvSpPr txBox="1"/>
          <p:nvPr/>
        </p:nvSpPr>
        <p:spPr>
          <a:xfrm>
            <a:off x="9363075" y="3502818"/>
            <a:ext cx="2760345" cy="142875"/>
          </a:xfrm>
          <a:prstGeom prst="rect">
            <a:avLst/>
          </a:prstGeom>
          <a:noFill/>
        </p:spPr>
        <p:txBody>
          <a:bodyPr wrap="square" lIns="0" tIns="0" rIns="0" bIns="0" anchor="t">
            <a:spAutoFit/>
          </a:bodyPr>
          <a:lstStyle/>
          <a:p>
            <a:pPr algn="l">
              <a:lnSpc>
                <a:spcPts val="1125"/>
              </a:lnSpc>
            </a:pPr>
            <a:r>
              <a:rPr sz="750" b="0" i="1" u="none">
                <a:solidFill>
                  <a:srgbClr val="64748B"/>
                </a:solidFill>
                <a:latin typeface="Inter"/>
              </a:rPr>
              <a:t>*Illustrative schema; not experimental validation data</a:t>
            </a:r>
          </a:p>
        </p:txBody>
      </p:sp>
      <p:sp>
        <p:nvSpPr>
          <p:cNvPr id="30" name="TextBox 29"/>
          <p:cNvSpPr txBox="1"/>
          <p:nvPr/>
        </p:nvSpPr>
        <p:spPr>
          <a:xfrm>
            <a:off x="361763" y="1690687"/>
            <a:ext cx="2339652" cy="152400"/>
          </a:xfrm>
          <a:prstGeom prst="rect">
            <a:avLst/>
          </a:prstGeom>
          <a:noFill/>
        </p:spPr>
        <p:txBody>
          <a:bodyPr wrap="square" lIns="0" tIns="0" rIns="0" bIns="0" anchor="t">
            <a:spAutoFit/>
          </a:bodyPr>
          <a:lstStyle/>
          <a:p>
            <a:pPr algn="ctr">
              <a:lnSpc>
                <a:spcPts val="1200"/>
              </a:lnSpc>
            </a:pPr>
            <a:r>
              <a:rPr sz="825" b="1" i="0" u="none">
                <a:solidFill>
                  <a:srgbClr val="0F172A"/>
                </a:solidFill>
                <a:latin typeface="Inter"/>
              </a:rPr>
              <a:t>1. Column Hint</a:t>
            </a:r>
          </a:p>
        </p:txBody>
      </p:sp>
      <p:sp>
        <p:nvSpPr>
          <p:cNvPr id="31" name="TextBox 30"/>
          <p:cNvSpPr txBox="1"/>
          <p:nvPr/>
        </p:nvSpPr>
        <p:spPr>
          <a:xfrm>
            <a:off x="361763" y="1862137"/>
            <a:ext cx="2339652" cy="152400"/>
          </a:xfrm>
          <a:prstGeom prst="rect">
            <a:avLst/>
          </a:prstGeom>
          <a:noFill/>
        </p:spPr>
        <p:txBody>
          <a:bodyPr wrap="square" lIns="0" tIns="0" rIns="0" bIns="0" anchor="t">
            <a:spAutoFit/>
          </a:bodyPr>
          <a:lstStyle/>
          <a:p>
            <a:pPr algn="ctr">
              <a:lnSpc>
                <a:spcPts val="1200"/>
              </a:lnSpc>
            </a:pPr>
            <a:r>
              <a:rPr sz="750" b="0" i="0" u="none">
                <a:solidFill>
                  <a:srgbClr val="64748B"/>
                </a:solidFill>
                <a:latin typeface="Inter"/>
              </a:rPr>
              <a:t>Token substring match</a:t>
            </a:r>
          </a:p>
        </p:txBody>
      </p:sp>
      <p:sp>
        <p:nvSpPr>
          <p:cNvPr id="32" name="TextBox 31"/>
          <p:cNvSpPr txBox="1"/>
          <p:nvPr/>
        </p:nvSpPr>
        <p:spPr>
          <a:xfrm>
            <a:off x="2643894" y="1690687"/>
            <a:ext cx="2339652" cy="152400"/>
          </a:xfrm>
          <a:prstGeom prst="rect">
            <a:avLst/>
          </a:prstGeom>
          <a:noFill/>
        </p:spPr>
        <p:txBody>
          <a:bodyPr wrap="square" lIns="0" tIns="0" rIns="0" bIns="0" anchor="t">
            <a:spAutoFit/>
          </a:bodyPr>
          <a:lstStyle/>
          <a:p>
            <a:pPr algn="ctr">
              <a:lnSpc>
                <a:spcPts val="1200"/>
              </a:lnSpc>
            </a:pPr>
            <a:r>
              <a:rPr sz="825" b="1" i="0" u="none">
                <a:solidFill>
                  <a:srgbClr val="0F172A"/>
                </a:solidFill>
                <a:latin typeface="Inter"/>
              </a:rPr>
              <a:t>2. Value Pattern</a:t>
            </a:r>
          </a:p>
        </p:txBody>
      </p:sp>
      <p:sp>
        <p:nvSpPr>
          <p:cNvPr id="33" name="TextBox 32"/>
          <p:cNvSpPr txBox="1"/>
          <p:nvPr/>
        </p:nvSpPr>
        <p:spPr>
          <a:xfrm>
            <a:off x="2643894" y="1862137"/>
            <a:ext cx="2339652" cy="152400"/>
          </a:xfrm>
          <a:prstGeom prst="rect">
            <a:avLst/>
          </a:prstGeom>
          <a:noFill/>
        </p:spPr>
        <p:txBody>
          <a:bodyPr wrap="square" lIns="0" tIns="0" rIns="0" bIns="0" anchor="t">
            <a:spAutoFit/>
          </a:bodyPr>
          <a:lstStyle/>
          <a:p>
            <a:pPr algn="ctr">
              <a:lnSpc>
                <a:spcPts val="1200"/>
              </a:lnSpc>
            </a:pPr>
            <a:r>
              <a:rPr sz="750" b="0" i="0" u="none">
                <a:solidFill>
                  <a:srgbClr val="64748B"/>
                </a:solidFill>
                <a:latin typeface="Inter"/>
              </a:rPr>
              <a:t>Regex pattern check</a:t>
            </a:r>
          </a:p>
        </p:txBody>
      </p:sp>
      <p:sp>
        <p:nvSpPr>
          <p:cNvPr id="34" name="TextBox 33"/>
          <p:cNvSpPr txBox="1"/>
          <p:nvPr/>
        </p:nvSpPr>
        <p:spPr>
          <a:xfrm>
            <a:off x="4926013" y="1690687"/>
            <a:ext cx="2339823" cy="152400"/>
          </a:xfrm>
          <a:prstGeom prst="rect">
            <a:avLst/>
          </a:prstGeom>
          <a:noFill/>
        </p:spPr>
        <p:txBody>
          <a:bodyPr wrap="square" lIns="0" tIns="0" rIns="0" bIns="0" anchor="t">
            <a:spAutoFit/>
          </a:bodyPr>
          <a:lstStyle/>
          <a:p>
            <a:pPr algn="ctr">
              <a:lnSpc>
                <a:spcPts val="1200"/>
              </a:lnSpc>
            </a:pPr>
            <a:r>
              <a:rPr sz="825" b="1" i="0" u="none">
                <a:solidFill>
                  <a:srgbClr val="0F172A"/>
                </a:solidFill>
                <a:latin typeface="Inter"/>
              </a:rPr>
              <a:t>3. Strict Validator</a:t>
            </a:r>
          </a:p>
        </p:txBody>
      </p:sp>
      <p:sp>
        <p:nvSpPr>
          <p:cNvPr id="35" name="TextBox 34"/>
          <p:cNvSpPr txBox="1"/>
          <p:nvPr/>
        </p:nvSpPr>
        <p:spPr>
          <a:xfrm>
            <a:off x="4926013" y="1862137"/>
            <a:ext cx="2339823" cy="152400"/>
          </a:xfrm>
          <a:prstGeom prst="rect">
            <a:avLst/>
          </a:prstGeom>
          <a:noFill/>
        </p:spPr>
        <p:txBody>
          <a:bodyPr wrap="square" lIns="0" tIns="0" rIns="0" bIns="0" anchor="t">
            <a:spAutoFit/>
          </a:bodyPr>
          <a:lstStyle/>
          <a:p>
            <a:pPr algn="ctr">
              <a:lnSpc>
                <a:spcPts val="1200"/>
              </a:lnSpc>
            </a:pPr>
            <a:r>
              <a:rPr sz="750" b="0" i="0" u="none">
                <a:solidFill>
                  <a:srgbClr val="64748B"/>
                </a:solidFill>
                <a:latin typeface="Inter"/>
              </a:rPr>
              <a:t>Verhoeff / RFC 5322</a:t>
            </a:r>
          </a:p>
        </p:txBody>
      </p:sp>
      <p:sp>
        <p:nvSpPr>
          <p:cNvPr id="36" name="TextBox 35"/>
          <p:cNvSpPr txBox="1"/>
          <p:nvPr/>
        </p:nvSpPr>
        <p:spPr>
          <a:xfrm>
            <a:off x="7208304" y="1690687"/>
            <a:ext cx="2339652" cy="152400"/>
          </a:xfrm>
          <a:prstGeom prst="rect">
            <a:avLst/>
          </a:prstGeom>
          <a:noFill/>
        </p:spPr>
        <p:txBody>
          <a:bodyPr wrap="square" lIns="0" tIns="0" rIns="0" bIns="0" anchor="t">
            <a:spAutoFit/>
          </a:bodyPr>
          <a:lstStyle/>
          <a:p>
            <a:pPr algn="ctr">
              <a:lnSpc>
                <a:spcPts val="1200"/>
              </a:lnSpc>
            </a:pPr>
            <a:r>
              <a:rPr sz="825" b="1" i="0" u="none">
                <a:solidFill>
                  <a:srgbClr val="1E40AF"/>
                </a:solidFill>
                <a:latin typeface="Inter"/>
              </a:rPr>
              <a:t>4. Score Engine</a:t>
            </a:r>
          </a:p>
        </p:txBody>
      </p:sp>
      <p:sp>
        <p:nvSpPr>
          <p:cNvPr id="37" name="TextBox 36"/>
          <p:cNvSpPr txBox="1"/>
          <p:nvPr/>
        </p:nvSpPr>
        <p:spPr>
          <a:xfrm>
            <a:off x="7208304" y="1862137"/>
            <a:ext cx="2339652" cy="152400"/>
          </a:xfrm>
          <a:prstGeom prst="rect">
            <a:avLst/>
          </a:prstGeom>
          <a:noFill/>
        </p:spPr>
        <p:txBody>
          <a:bodyPr wrap="square" lIns="0" tIns="0" rIns="0" bIns="0" anchor="t">
            <a:spAutoFit/>
          </a:bodyPr>
          <a:lstStyle/>
          <a:p>
            <a:pPr algn="ctr">
              <a:lnSpc>
                <a:spcPts val="1200"/>
              </a:lnSpc>
            </a:pPr>
            <a:r>
              <a:rPr sz="750" b="0" i="0" u="none">
                <a:solidFill>
                  <a:srgbClr val="475569"/>
                </a:solidFill>
                <a:latin typeface="Inter"/>
              </a:rPr>
              <a:t>Confidence scoring</a:t>
            </a:r>
          </a:p>
        </p:txBody>
      </p:sp>
      <p:sp>
        <p:nvSpPr>
          <p:cNvPr id="38" name="TextBox 37"/>
          <p:cNvSpPr txBox="1"/>
          <p:nvPr/>
        </p:nvSpPr>
        <p:spPr>
          <a:xfrm>
            <a:off x="9479469" y="1681162"/>
            <a:ext cx="2361731" cy="152400"/>
          </a:xfrm>
          <a:prstGeom prst="rect">
            <a:avLst/>
          </a:prstGeom>
          <a:noFill/>
        </p:spPr>
        <p:txBody>
          <a:bodyPr wrap="square" lIns="0" tIns="0" rIns="0" bIns="0" anchor="t">
            <a:spAutoFit/>
          </a:bodyPr>
          <a:lstStyle/>
          <a:p>
            <a:pPr algn="ctr">
              <a:lnSpc>
                <a:spcPts val="1200"/>
              </a:lnSpc>
            </a:pPr>
            <a:r>
              <a:rPr sz="825" b="1" i="0" u="none">
                <a:solidFill>
                  <a:srgbClr val="FFFFFF"/>
                </a:solidFill>
                <a:latin typeface="Inter"/>
              </a:rPr>
              <a:t>5. Inventory Output</a:t>
            </a:r>
          </a:p>
        </p:txBody>
      </p:sp>
      <p:sp>
        <p:nvSpPr>
          <p:cNvPr id="39" name="TextBox 38"/>
          <p:cNvSpPr txBox="1"/>
          <p:nvPr/>
        </p:nvSpPr>
        <p:spPr>
          <a:xfrm>
            <a:off x="9479469" y="1852612"/>
            <a:ext cx="2361731" cy="152400"/>
          </a:xfrm>
          <a:prstGeom prst="rect">
            <a:avLst/>
          </a:prstGeom>
          <a:noFill/>
        </p:spPr>
        <p:txBody>
          <a:bodyPr wrap="square" lIns="0" tIns="0" rIns="0" bIns="0" anchor="t">
            <a:spAutoFit/>
          </a:bodyPr>
          <a:lstStyle/>
          <a:p>
            <a:pPr algn="ctr">
              <a:lnSpc>
                <a:spcPts val="1200"/>
              </a:lnSpc>
            </a:pPr>
            <a:r>
              <a:rPr sz="750" b="0" i="0" u="none">
                <a:solidFill>
                  <a:srgbClr val="DBEAFE"/>
                </a:solidFill>
                <a:latin typeface="Inter"/>
              </a:rPr>
              <a:t>Logged for human triage</a:t>
            </a:r>
          </a:p>
        </p:txBody>
      </p:sp>
      <p:sp>
        <p:nvSpPr>
          <p:cNvPr id="40" name="Rounded Rectangle 39"/>
          <p:cNvSpPr/>
          <p:nvPr/>
        </p:nvSpPr>
        <p:spPr>
          <a:xfrm>
            <a:off x="10210502" y="4090987"/>
            <a:ext cx="1019175" cy="152400"/>
          </a:xfrm>
          <a:prstGeom prst="roundRect">
            <a:avLst>
              <a:gd name="adj" fmla="val 25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286702" y="4110037"/>
            <a:ext cx="996791" cy="114300"/>
          </a:xfrm>
          <a:prstGeom prst="rect">
            <a:avLst/>
          </a:prstGeom>
          <a:noFill/>
        </p:spPr>
        <p:txBody>
          <a:bodyPr wrap="square" lIns="0" tIns="0" rIns="0" bIns="0" anchor="t">
            <a:spAutoFit/>
          </a:bodyPr>
          <a:lstStyle/>
          <a:p>
            <a:pPr algn="l">
              <a:lnSpc>
                <a:spcPts val="1200"/>
              </a:lnSpc>
            </a:pPr>
            <a:r>
              <a:rPr sz="750" b="1" i="0" u="none">
                <a:solidFill>
                  <a:srgbClr val="065F46"/>
                </a:solidFill>
                <a:latin typeface="Inter"/>
              </a:rPr>
              <a:t>Verified Candidate</a:t>
            </a:r>
          </a:p>
        </p:txBody>
      </p:sp>
      <p:sp>
        <p:nvSpPr>
          <p:cNvPr id="42" name="Rounded Rectangle 41"/>
          <p:cNvSpPr/>
          <p:nvPr/>
        </p:nvSpPr>
        <p:spPr>
          <a:xfrm>
            <a:off x="10210502" y="4367212"/>
            <a:ext cx="1019175" cy="152400"/>
          </a:xfrm>
          <a:prstGeom prst="roundRect">
            <a:avLst>
              <a:gd name="adj" fmla="val 25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86702" y="4386262"/>
            <a:ext cx="996791" cy="114300"/>
          </a:xfrm>
          <a:prstGeom prst="rect">
            <a:avLst/>
          </a:prstGeom>
          <a:noFill/>
        </p:spPr>
        <p:txBody>
          <a:bodyPr wrap="square" lIns="0" tIns="0" rIns="0" bIns="0" anchor="t">
            <a:spAutoFit/>
          </a:bodyPr>
          <a:lstStyle/>
          <a:p>
            <a:pPr algn="l">
              <a:lnSpc>
                <a:spcPts val="1200"/>
              </a:lnSpc>
            </a:pPr>
            <a:r>
              <a:rPr sz="750" b="1" i="0" u="none">
                <a:solidFill>
                  <a:srgbClr val="065F46"/>
                </a:solidFill>
                <a:latin typeface="Inter"/>
              </a:rPr>
              <a:t>Verified Candidate</a:t>
            </a:r>
          </a:p>
        </p:txBody>
      </p:sp>
      <p:sp>
        <p:nvSpPr>
          <p:cNvPr id="44" name="Rounded Rectangle 43"/>
          <p:cNvSpPr/>
          <p:nvPr/>
        </p:nvSpPr>
        <p:spPr>
          <a:xfrm>
            <a:off x="10210502" y="4643437"/>
            <a:ext cx="1162050" cy="152400"/>
          </a:xfrm>
          <a:prstGeom prst="roundRect">
            <a:avLst>
              <a:gd name="adj" fmla="val 25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286702" y="4662487"/>
            <a:ext cx="1161097" cy="114300"/>
          </a:xfrm>
          <a:prstGeom prst="rect">
            <a:avLst/>
          </a:prstGeom>
          <a:noFill/>
        </p:spPr>
        <p:txBody>
          <a:bodyPr wrap="square" lIns="0" tIns="0" rIns="0" bIns="0" anchor="t">
            <a:spAutoFit/>
          </a:bodyPr>
          <a:lstStyle/>
          <a:p>
            <a:pPr algn="l">
              <a:lnSpc>
                <a:spcPts val="1200"/>
              </a:lnSpc>
            </a:pPr>
            <a:r>
              <a:rPr sz="750" b="1" i="0" u="none">
                <a:solidFill>
                  <a:srgbClr val="991B1B"/>
                </a:solidFill>
                <a:latin typeface="Inter"/>
              </a:rPr>
              <a:t>EVIDENCE GAP FLAG</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466725" y="3998118"/>
            <a:ext cx="1901130" cy="242887"/>
          </a:xfrm>
          <a:prstGeom prst="rect">
            <a:avLst/>
          </a:prstGeom>
        </p:spPr>
      </p:pic>
      <p:pic>
        <p:nvPicPr>
          <p:cNvPr id="3" name="Picture 2" descr="image.png"/>
          <p:cNvPicPr>
            <a:picLocks noChangeAspect="1"/>
          </p:cNvPicPr>
          <p:nvPr/>
        </p:nvPicPr>
        <p:blipFill>
          <a:blip r:embed="rId3"/>
          <a:stretch>
            <a:fillRect/>
          </a:stretch>
        </p:blipFill>
        <p:spPr>
          <a:xfrm>
            <a:off x="2806005" y="3998118"/>
            <a:ext cx="1901130" cy="242887"/>
          </a:xfrm>
          <a:prstGeom prst="rect">
            <a:avLst/>
          </a:prstGeom>
        </p:spPr>
      </p:pic>
      <p:pic>
        <p:nvPicPr>
          <p:cNvPr id="4" name="Picture 3" descr="image.png"/>
          <p:cNvPicPr>
            <a:picLocks noChangeAspect="1"/>
          </p:cNvPicPr>
          <p:nvPr/>
        </p:nvPicPr>
        <p:blipFill>
          <a:blip r:embed="rId4"/>
          <a:stretch>
            <a:fillRect/>
          </a:stretch>
        </p:blipFill>
        <p:spPr>
          <a:xfrm>
            <a:off x="5145285" y="3998118"/>
            <a:ext cx="1901279" cy="242887"/>
          </a:xfrm>
          <a:prstGeom prst="rect">
            <a:avLst/>
          </a:prstGeom>
        </p:spPr>
      </p:pic>
      <p:pic>
        <p:nvPicPr>
          <p:cNvPr id="5" name="Picture 4" descr="image.png"/>
          <p:cNvPicPr>
            <a:picLocks noChangeAspect="1"/>
          </p:cNvPicPr>
          <p:nvPr/>
        </p:nvPicPr>
        <p:blipFill>
          <a:blip r:embed="rId5"/>
          <a:stretch>
            <a:fillRect/>
          </a:stretch>
        </p:blipFill>
        <p:spPr>
          <a:xfrm>
            <a:off x="7484715" y="3998118"/>
            <a:ext cx="1901130" cy="242887"/>
          </a:xfrm>
          <a:prstGeom prst="rect">
            <a:avLst/>
          </a:prstGeom>
        </p:spPr>
      </p:pic>
      <p:pic>
        <p:nvPicPr>
          <p:cNvPr id="6" name="Picture 5" descr="image.png"/>
          <p:cNvPicPr>
            <a:picLocks noChangeAspect="1"/>
          </p:cNvPicPr>
          <p:nvPr/>
        </p:nvPicPr>
        <p:blipFill>
          <a:blip r:embed="rId6"/>
          <a:stretch>
            <a:fillRect/>
          </a:stretch>
        </p:blipFill>
        <p:spPr>
          <a:xfrm>
            <a:off x="9833520" y="3988593"/>
            <a:ext cx="1882229" cy="242887"/>
          </a:xfrm>
          <a:prstGeom prst="rect">
            <a:avLst/>
          </a:prstGeom>
        </p:spPr>
      </p:pic>
      <p:pic>
        <p:nvPicPr>
          <p:cNvPr id="7" name="Picture 6" descr="image.png"/>
          <p:cNvPicPr>
            <a:picLocks noChangeAspect="1"/>
          </p:cNvPicPr>
          <p:nvPr/>
        </p:nvPicPr>
        <p:blipFill>
          <a:blip r:embed="rId7"/>
          <a:stretch>
            <a:fillRect/>
          </a:stretch>
        </p:blipFill>
        <p:spPr>
          <a:xfrm>
            <a:off x="466725" y="2845593"/>
            <a:ext cx="304800" cy="304800"/>
          </a:xfrm>
          <a:prstGeom prst="rect">
            <a:avLst/>
          </a:prstGeom>
        </p:spPr>
      </p:pic>
      <p:pic>
        <p:nvPicPr>
          <p:cNvPr id="8" name="Picture 7" descr="image.png"/>
          <p:cNvPicPr>
            <a:picLocks noChangeAspect="1"/>
          </p:cNvPicPr>
          <p:nvPr/>
        </p:nvPicPr>
        <p:blipFill>
          <a:blip r:embed="rId8"/>
          <a:stretch>
            <a:fillRect/>
          </a:stretch>
        </p:blipFill>
        <p:spPr>
          <a:xfrm>
            <a:off x="2806005" y="2845593"/>
            <a:ext cx="304800" cy="304800"/>
          </a:xfrm>
          <a:prstGeom prst="rect">
            <a:avLst/>
          </a:prstGeom>
        </p:spPr>
      </p:pic>
      <p:pic>
        <p:nvPicPr>
          <p:cNvPr id="9" name="Picture 8" descr="image.png"/>
          <p:cNvPicPr>
            <a:picLocks noChangeAspect="1"/>
          </p:cNvPicPr>
          <p:nvPr/>
        </p:nvPicPr>
        <p:blipFill>
          <a:blip r:embed="rId9"/>
          <a:stretch>
            <a:fillRect/>
          </a:stretch>
        </p:blipFill>
        <p:spPr>
          <a:xfrm>
            <a:off x="5145285" y="2845593"/>
            <a:ext cx="304800" cy="304800"/>
          </a:xfrm>
          <a:prstGeom prst="rect">
            <a:avLst/>
          </a:prstGeom>
        </p:spPr>
      </p:pic>
      <p:pic>
        <p:nvPicPr>
          <p:cNvPr id="10" name="Picture 9" descr="image.png"/>
          <p:cNvPicPr>
            <a:picLocks noChangeAspect="1"/>
          </p:cNvPicPr>
          <p:nvPr/>
        </p:nvPicPr>
        <p:blipFill>
          <a:blip r:embed="rId10"/>
          <a:stretch>
            <a:fillRect/>
          </a:stretch>
        </p:blipFill>
        <p:spPr>
          <a:xfrm>
            <a:off x="7484715" y="2845593"/>
            <a:ext cx="304800" cy="304800"/>
          </a:xfrm>
          <a:prstGeom prst="rect">
            <a:avLst/>
          </a:prstGeom>
        </p:spPr>
      </p:pic>
      <p:pic>
        <p:nvPicPr>
          <p:cNvPr id="11" name="Picture 10" descr="image.png"/>
          <p:cNvPicPr>
            <a:picLocks noChangeAspect="1"/>
          </p:cNvPicPr>
          <p:nvPr/>
        </p:nvPicPr>
        <p:blipFill>
          <a:blip r:embed="rId11"/>
          <a:stretch>
            <a:fillRect/>
          </a:stretch>
        </p:blipFill>
        <p:spPr>
          <a:xfrm>
            <a:off x="9833520" y="2855118"/>
            <a:ext cx="304800" cy="304800"/>
          </a:xfrm>
          <a:prstGeom prst="rect">
            <a:avLst/>
          </a:prstGeom>
        </p:spPr>
      </p:pic>
      <p:sp>
        <p:nvSpPr>
          <p:cNvPr id="12" name="Rounded Rectangle 11"/>
          <p:cNvSpPr/>
          <p:nvPr/>
        </p:nvSpPr>
        <p:spPr>
          <a:xfrm>
            <a:off x="304800" y="5915025"/>
            <a:ext cx="11582400" cy="400050"/>
          </a:xfrm>
          <a:prstGeom prst="roundRect">
            <a:avLst>
              <a:gd name="adj" fmla="val 19047"/>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04800" y="2683668"/>
            <a:ext cx="2224980" cy="1719262"/>
          </a:xfrm>
          <a:prstGeom prst="roundRect">
            <a:avLst>
              <a:gd name="adj" fmla="val 66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2644080" y="2683668"/>
            <a:ext cx="2224980" cy="1719262"/>
          </a:xfrm>
          <a:prstGeom prst="roundRect">
            <a:avLst>
              <a:gd name="adj" fmla="val 66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4983360" y="2683668"/>
            <a:ext cx="2225129" cy="1719262"/>
          </a:xfrm>
          <a:prstGeom prst="roundRect">
            <a:avLst>
              <a:gd name="adj" fmla="val 66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322790" y="2683668"/>
            <a:ext cx="2224980" cy="1719262"/>
          </a:xfrm>
          <a:prstGeom prst="roundRect">
            <a:avLst>
              <a:gd name="adj" fmla="val 664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9662070" y="2683668"/>
            <a:ext cx="2225129" cy="1719262"/>
          </a:xfrm>
          <a:prstGeom prst="roundRect">
            <a:avLst>
              <a:gd name="adj" fmla="val 6648"/>
            </a:avLst>
          </a:prstGeom>
          <a:solidFill>
            <a:srgbClr val="EFF6FF">
              <a:alpha val="60000"/>
            </a:srgbClr>
          </a:solidFill>
          <a:ln w="19050">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83912" y="304800"/>
            <a:ext cx="1498781"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Implementation Plan</a:t>
            </a:r>
          </a:p>
        </p:txBody>
      </p:sp>
      <p:sp>
        <p:nvSpPr>
          <p:cNvPr id="20" name="TextBox 19"/>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Deployment Timeline</a:t>
            </a:r>
          </a:p>
        </p:txBody>
      </p:sp>
      <p:sp>
        <p:nvSpPr>
          <p:cNvPr id="21" name="TextBox 20"/>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Five milestones from setup to demo.</a:t>
            </a:r>
          </a:p>
        </p:txBody>
      </p:sp>
      <p:sp>
        <p:nvSpPr>
          <p:cNvPr id="22" name="TextBox 21"/>
          <p:cNvSpPr txBox="1"/>
          <p:nvPr/>
        </p:nvSpPr>
        <p:spPr>
          <a:xfrm>
            <a:off x="428625" y="6038850"/>
            <a:ext cx="898207" cy="142875"/>
          </a:xfrm>
          <a:prstGeom prst="rect">
            <a:avLst/>
          </a:prstGeom>
          <a:noFill/>
        </p:spPr>
        <p:txBody>
          <a:bodyPr wrap="square" lIns="0" tIns="0" rIns="0" bIns="0" anchor="t">
            <a:spAutoFit/>
          </a:bodyPr>
          <a:lstStyle/>
          <a:p>
            <a:pPr algn="l">
              <a:lnSpc>
                <a:spcPts val="1200"/>
              </a:lnSpc>
            </a:pPr>
            <a:r>
              <a:rPr sz="900" b="1" i="0" u="none">
                <a:solidFill>
                  <a:srgbClr val="0F172A"/>
                </a:solidFill>
                <a:latin typeface="Inter"/>
              </a:rPr>
              <a:t>Methodology:</a:t>
            </a:r>
          </a:p>
        </p:txBody>
      </p:sp>
      <p:sp>
        <p:nvSpPr>
          <p:cNvPr id="23" name="TextBox 22"/>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24" name="TextBox 23"/>
          <p:cNvSpPr txBox="1"/>
          <p:nvPr/>
        </p:nvSpPr>
        <p:spPr>
          <a:xfrm>
            <a:off x="11563350" y="6400800"/>
            <a:ext cx="372427"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10 / 11</a:t>
            </a:r>
          </a:p>
        </p:txBody>
      </p:sp>
      <p:sp>
        <p:nvSpPr>
          <p:cNvPr id="25" name="TextBox 24"/>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26" name="TextBox 25"/>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27" name="TextBox 26"/>
          <p:cNvSpPr txBox="1"/>
          <p:nvPr/>
        </p:nvSpPr>
        <p:spPr>
          <a:xfrm>
            <a:off x="944909" y="304800"/>
            <a:ext cx="1325403"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Deployment Timeline</a:t>
            </a:r>
          </a:p>
        </p:txBody>
      </p:sp>
      <p:sp>
        <p:nvSpPr>
          <p:cNvPr id="28" name="TextBox 27"/>
          <p:cNvSpPr txBox="1"/>
          <p:nvPr/>
        </p:nvSpPr>
        <p:spPr>
          <a:xfrm>
            <a:off x="466725" y="3264693"/>
            <a:ext cx="2186300"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Setup</a:t>
            </a:r>
          </a:p>
        </p:txBody>
      </p:sp>
      <p:sp>
        <p:nvSpPr>
          <p:cNvPr id="29" name="TextBox 28"/>
          <p:cNvSpPr txBox="1"/>
          <p:nvPr/>
        </p:nvSpPr>
        <p:spPr>
          <a:xfrm>
            <a:off x="466725" y="3493293"/>
            <a:ext cx="1901130"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Repo, access, synthetic CSV + SQLite data</a:t>
            </a:r>
          </a:p>
        </p:txBody>
      </p:sp>
      <p:sp>
        <p:nvSpPr>
          <p:cNvPr id="30" name="TextBox 29"/>
          <p:cNvSpPr txBox="1"/>
          <p:nvPr/>
        </p:nvSpPr>
        <p:spPr>
          <a:xfrm>
            <a:off x="2806005" y="3264693"/>
            <a:ext cx="2186300"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Scanner</a:t>
            </a:r>
          </a:p>
        </p:txBody>
      </p:sp>
      <p:sp>
        <p:nvSpPr>
          <p:cNvPr id="31" name="TextBox 30"/>
          <p:cNvSpPr txBox="1"/>
          <p:nvPr/>
        </p:nvSpPr>
        <p:spPr>
          <a:xfrm>
            <a:off x="2806005" y="3493293"/>
            <a:ext cx="1901130"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Connectors, sampler, YAML rule engine</a:t>
            </a:r>
          </a:p>
        </p:txBody>
      </p:sp>
      <p:sp>
        <p:nvSpPr>
          <p:cNvPr id="32" name="TextBox 31"/>
          <p:cNvSpPr txBox="1"/>
          <p:nvPr/>
        </p:nvSpPr>
        <p:spPr>
          <a:xfrm>
            <a:off x="5145285" y="3264693"/>
            <a:ext cx="2186471"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Linking</a:t>
            </a:r>
          </a:p>
        </p:txBody>
      </p:sp>
      <p:sp>
        <p:nvSpPr>
          <p:cNvPr id="33" name="TextBox 32"/>
          <p:cNvSpPr txBox="1"/>
          <p:nvPr/>
        </p:nvSpPr>
        <p:spPr>
          <a:xfrm>
            <a:off x="5145285" y="3493293"/>
            <a:ext cx="1901279"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Purpose and retention mapping, gap report</a:t>
            </a:r>
          </a:p>
        </p:txBody>
      </p:sp>
      <p:sp>
        <p:nvSpPr>
          <p:cNvPr id="34" name="TextBox 33"/>
          <p:cNvSpPr txBox="1"/>
          <p:nvPr/>
        </p:nvSpPr>
        <p:spPr>
          <a:xfrm>
            <a:off x="7484715" y="3264693"/>
            <a:ext cx="2186300" cy="190500"/>
          </a:xfrm>
          <a:prstGeom prst="rect">
            <a:avLst/>
          </a:prstGeom>
          <a:noFill/>
        </p:spPr>
        <p:txBody>
          <a:bodyPr wrap="square" lIns="0" tIns="0" rIns="0" bIns="0" anchor="t">
            <a:spAutoFit/>
          </a:bodyPr>
          <a:lstStyle/>
          <a:p>
            <a:pPr algn="l">
              <a:lnSpc>
                <a:spcPts val="1500"/>
              </a:lnSpc>
            </a:pPr>
            <a:r>
              <a:rPr sz="1050" b="1" i="0" u="none">
                <a:solidFill>
                  <a:srgbClr val="0F172A"/>
                </a:solidFill>
                <a:latin typeface="Inter"/>
              </a:rPr>
              <a:t>Evaluation</a:t>
            </a:r>
          </a:p>
        </p:txBody>
      </p:sp>
      <p:sp>
        <p:nvSpPr>
          <p:cNvPr id="35" name="TextBox 34"/>
          <p:cNvSpPr txBox="1"/>
          <p:nvPr/>
        </p:nvSpPr>
        <p:spPr>
          <a:xfrm>
            <a:off x="7484715" y="3493293"/>
            <a:ext cx="1901130" cy="371475"/>
          </a:xfrm>
          <a:prstGeom prst="rect">
            <a:avLst/>
          </a:prstGeom>
          <a:noFill/>
        </p:spPr>
        <p:txBody>
          <a:bodyPr wrap="square" lIns="0" tIns="0" rIns="0" bIns="0" anchor="t">
            <a:spAutoFit/>
          </a:bodyPr>
          <a:lstStyle/>
          <a:p>
            <a:pPr algn="l">
              <a:lnSpc>
                <a:spcPts val="1462"/>
              </a:lnSpc>
            </a:pPr>
            <a:r>
              <a:rPr sz="900" b="0" i="0" u="none">
                <a:solidFill>
                  <a:srgbClr val="475569"/>
                </a:solidFill>
                <a:latin typeface="Inter"/>
              </a:rPr>
              <a:t>Labelled set, per-class precision and recall</a:t>
            </a:r>
          </a:p>
        </p:txBody>
      </p:sp>
      <p:sp>
        <p:nvSpPr>
          <p:cNvPr id="36" name="TextBox 35"/>
          <p:cNvSpPr txBox="1"/>
          <p:nvPr/>
        </p:nvSpPr>
        <p:spPr>
          <a:xfrm>
            <a:off x="9833520" y="3274218"/>
            <a:ext cx="2164563" cy="190500"/>
          </a:xfrm>
          <a:prstGeom prst="rect">
            <a:avLst/>
          </a:prstGeom>
          <a:noFill/>
        </p:spPr>
        <p:txBody>
          <a:bodyPr wrap="square" lIns="0" tIns="0" rIns="0" bIns="0" anchor="t">
            <a:spAutoFit/>
          </a:bodyPr>
          <a:lstStyle/>
          <a:p>
            <a:pPr algn="l">
              <a:lnSpc>
                <a:spcPts val="1500"/>
              </a:lnSpc>
            </a:pPr>
            <a:r>
              <a:rPr sz="1050" b="1" i="0" u="none">
                <a:solidFill>
                  <a:srgbClr val="172554"/>
                </a:solidFill>
                <a:latin typeface="Inter"/>
              </a:rPr>
              <a:t>Delivery</a:t>
            </a:r>
          </a:p>
        </p:txBody>
      </p:sp>
      <p:sp>
        <p:nvSpPr>
          <p:cNvPr id="37" name="TextBox 36"/>
          <p:cNvSpPr txBox="1"/>
          <p:nvPr/>
        </p:nvSpPr>
        <p:spPr>
          <a:xfrm>
            <a:off x="9833520" y="3502818"/>
            <a:ext cx="1882229" cy="371475"/>
          </a:xfrm>
          <a:prstGeom prst="rect">
            <a:avLst/>
          </a:prstGeom>
          <a:noFill/>
        </p:spPr>
        <p:txBody>
          <a:bodyPr wrap="square" lIns="0" tIns="0" rIns="0" bIns="0" anchor="t">
            <a:spAutoFit/>
          </a:bodyPr>
          <a:lstStyle/>
          <a:p>
            <a:pPr algn="l">
              <a:lnSpc>
                <a:spcPts val="1462"/>
              </a:lnSpc>
            </a:pPr>
            <a:r>
              <a:rPr sz="900" b="0" i="0" u="none">
                <a:solidFill>
                  <a:srgbClr val="334155"/>
                </a:solidFill>
                <a:latin typeface="Inter"/>
              </a:rPr>
              <a:t>PDF, team video, demo, code submission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304800" y="5991225"/>
            <a:ext cx="11582400" cy="323850"/>
          </a:xfrm>
          <a:prstGeom prst="rect">
            <a:avLst/>
          </a:prstGeom>
        </p:spPr>
      </p:pic>
      <p:pic>
        <p:nvPicPr>
          <p:cNvPr id="3" name="Picture 2" descr="image.png"/>
          <p:cNvPicPr>
            <a:picLocks noChangeAspect="1"/>
          </p:cNvPicPr>
          <p:nvPr/>
        </p:nvPicPr>
        <p:blipFill>
          <a:blip r:embed="rId3"/>
          <a:stretch>
            <a:fillRect/>
          </a:stretch>
        </p:blipFill>
        <p:spPr>
          <a:xfrm>
            <a:off x="466725" y="5486400"/>
            <a:ext cx="5372100" cy="228600"/>
          </a:xfrm>
          <a:prstGeom prst="rect">
            <a:avLst/>
          </a:prstGeom>
        </p:spPr>
      </p:pic>
      <p:sp>
        <p:nvSpPr>
          <p:cNvPr id="4" name="Rounded Rectangle 3"/>
          <p:cNvSpPr/>
          <p:nvPr/>
        </p:nvSpPr>
        <p:spPr>
          <a:xfrm>
            <a:off x="304800" y="6315075"/>
            <a:ext cx="11582400" cy="238125"/>
          </a:xfrm>
          <a:prstGeom prst="roundRect">
            <a:avLst/>
          </a:prstGeom>
          <a:no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304800" y="1285875"/>
            <a:ext cx="5695950" cy="4591050"/>
          </a:xfrm>
          <a:prstGeom prst="roundRect">
            <a:avLst>
              <a:gd name="adj" fmla="val 248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191250" y="1285875"/>
            <a:ext cx="5695950" cy="3717131"/>
          </a:xfrm>
          <a:prstGeom prst="roundRect">
            <a:avLst>
              <a:gd name="adj" fmla="val 307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6191250" y="5117306"/>
            <a:ext cx="5695950" cy="759618"/>
          </a:xfrm>
          <a:prstGeom prst="roundRect">
            <a:avLst>
              <a:gd name="adj" fmla="val 15047"/>
            </a:avLst>
          </a:prstGeom>
          <a:solidFill>
            <a:srgbClr val="EFF6FF">
              <a:alpha val="70000"/>
            </a:srgbClr>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334125" y="3812381"/>
            <a:ext cx="2667000" cy="485775"/>
          </a:xfrm>
          <a:prstGeom prst="roundRect">
            <a:avLst>
              <a:gd name="adj" fmla="val 78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9077325" y="3812381"/>
            <a:ext cx="2667000" cy="485775"/>
          </a:xfrm>
          <a:prstGeom prst="roundRect">
            <a:avLst>
              <a:gd name="adj" fmla="val 78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34125" y="4374356"/>
            <a:ext cx="2667000" cy="485775"/>
          </a:xfrm>
          <a:prstGeom prst="roundRect">
            <a:avLst>
              <a:gd name="adj" fmla="val 78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9077325" y="4374356"/>
            <a:ext cx="2667000" cy="485775"/>
          </a:xfrm>
          <a:prstGeom prst="roundRect">
            <a:avLst>
              <a:gd name="adj" fmla="val 7843"/>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652521" y="304800"/>
            <a:ext cx="1419879"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ui-monospace"/>
              </a:rPr>
              <a:t>Final Verification</a:t>
            </a:r>
          </a:p>
        </p:txBody>
      </p:sp>
      <p:sp>
        <p:nvSpPr>
          <p:cNvPr id="13" name="TextBox 12"/>
          <p:cNvSpPr txBox="1"/>
          <p:nvPr/>
        </p:nvSpPr>
        <p:spPr>
          <a:xfrm>
            <a:off x="304800" y="619125"/>
            <a:ext cx="11887200" cy="342900"/>
          </a:xfrm>
          <a:prstGeom prst="rect">
            <a:avLst/>
          </a:prstGeom>
          <a:noFill/>
        </p:spPr>
        <p:txBody>
          <a:bodyPr wrap="square" lIns="0" tIns="0" rIns="0" bIns="0" anchor="t">
            <a:spAutoFit/>
          </a:bodyPr>
          <a:lstStyle/>
          <a:p>
            <a:pPr algn="l">
              <a:lnSpc>
                <a:spcPts val="2700"/>
              </a:lnSpc>
            </a:pPr>
            <a:r>
              <a:rPr sz="2250" b="1" i="0" u="none" spc="-56">
                <a:solidFill>
                  <a:srgbClr val="1D4ED8"/>
                </a:solidFill>
                <a:latin typeface="Inter"/>
              </a:rPr>
              <a:t>Bibliography &amp; Operational Boundaries</a:t>
            </a:r>
          </a:p>
        </p:txBody>
      </p:sp>
      <p:sp>
        <p:nvSpPr>
          <p:cNvPr id="14" name="TextBox 13"/>
          <p:cNvSpPr txBox="1"/>
          <p:nvPr/>
        </p:nvSpPr>
        <p:spPr>
          <a:xfrm>
            <a:off x="304800" y="981075"/>
            <a:ext cx="11887200" cy="190500"/>
          </a:xfrm>
          <a:prstGeom prst="rect">
            <a:avLst/>
          </a:prstGeom>
          <a:noFill/>
        </p:spPr>
        <p:txBody>
          <a:bodyPr wrap="square" lIns="0" tIns="0" rIns="0" bIns="0" anchor="t">
            <a:spAutoFit/>
          </a:bodyPr>
          <a:lstStyle/>
          <a:p>
            <a:pPr algn="l">
              <a:lnSpc>
                <a:spcPts val="1500"/>
              </a:lnSpc>
            </a:pPr>
            <a:r>
              <a:rPr sz="1050" b="1" i="0" u="none">
                <a:solidFill>
                  <a:srgbClr val="1E293B"/>
                </a:solidFill>
                <a:latin typeface="Inter"/>
              </a:rPr>
              <a:t>Authoritative references and PS-019 governance compliance.</a:t>
            </a:r>
          </a:p>
        </p:txBody>
      </p:sp>
      <p:sp>
        <p:nvSpPr>
          <p:cNvPr id="15" name="TextBox 14"/>
          <p:cNvSpPr txBox="1"/>
          <p:nvPr/>
        </p:nvSpPr>
        <p:spPr>
          <a:xfrm>
            <a:off x="304800" y="6400800"/>
            <a:ext cx="3132772" cy="152400"/>
          </a:xfrm>
          <a:prstGeom prst="rect">
            <a:avLst/>
          </a:prstGeom>
          <a:noFill/>
        </p:spPr>
        <p:txBody>
          <a:bodyPr wrap="square" lIns="0" tIns="0" rIns="0" bIns="0" anchor="t">
            <a:spAutoFit/>
          </a:bodyPr>
          <a:lstStyle/>
          <a:p>
            <a:pPr algn="l">
              <a:lnSpc>
                <a:spcPts val="1200"/>
              </a:lnSpc>
            </a:pPr>
            <a:r>
              <a:rPr sz="900" b="0" i="0" u="none">
                <a:solidFill>
                  <a:srgbClr val="64748B"/>
                </a:solidFill>
                <a:latin typeface="Inter"/>
              </a:rPr>
              <a:t>V. Gangwar • A3-PS019-TC155 • October 14, 2026</a:t>
            </a:r>
          </a:p>
        </p:txBody>
      </p:sp>
      <p:sp>
        <p:nvSpPr>
          <p:cNvPr id="16" name="TextBox 15"/>
          <p:cNvSpPr txBox="1"/>
          <p:nvPr/>
        </p:nvSpPr>
        <p:spPr>
          <a:xfrm>
            <a:off x="11591925" y="6400800"/>
            <a:ext cx="339566" cy="152400"/>
          </a:xfrm>
          <a:prstGeom prst="rect">
            <a:avLst/>
          </a:prstGeom>
          <a:noFill/>
        </p:spPr>
        <p:txBody>
          <a:bodyPr wrap="square" lIns="0" tIns="0" rIns="0" bIns="0" anchor="t">
            <a:spAutoFit/>
          </a:bodyPr>
          <a:lstStyle/>
          <a:p>
            <a:pPr algn="l">
              <a:lnSpc>
                <a:spcPts val="1200"/>
              </a:lnSpc>
            </a:pPr>
            <a:r>
              <a:rPr sz="900" b="1" i="0" u="none">
                <a:solidFill>
                  <a:srgbClr val="1D4ED8"/>
                </a:solidFill>
                <a:latin typeface="Inter"/>
              </a:rPr>
              <a:t>11 / 11</a:t>
            </a:r>
          </a:p>
        </p:txBody>
      </p:sp>
      <p:sp>
        <p:nvSpPr>
          <p:cNvPr id="17" name="TextBox 16"/>
          <p:cNvSpPr txBox="1"/>
          <p:nvPr/>
        </p:nvSpPr>
        <p:spPr>
          <a:xfrm>
            <a:off x="304800" y="304800"/>
            <a:ext cx="517051"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AIORI 3</a:t>
            </a:r>
          </a:p>
        </p:txBody>
      </p:sp>
      <p:sp>
        <p:nvSpPr>
          <p:cNvPr id="18" name="TextBox 17"/>
          <p:cNvSpPr txBox="1"/>
          <p:nvPr/>
        </p:nvSpPr>
        <p:spPr>
          <a:xfrm>
            <a:off x="830609" y="304800"/>
            <a:ext cx="76200" cy="152400"/>
          </a:xfrm>
          <a:prstGeom prst="rect">
            <a:avLst/>
          </a:prstGeom>
          <a:noFill/>
        </p:spPr>
        <p:txBody>
          <a:bodyPr wrap="square" lIns="0" tIns="0" rIns="0" bIns="0" anchor="t">
            <a:spAutoFit/>
          </a:bodyPr>
          <a:lstStyle/>
          <a:p>
            <a:pPr algn="l">
              <a:lnSpc>
                <a:spcPts val="1200"/>
              </a:lnSpc>
            </a:pPr>
            <a:r>
              <a:rPr sz="900" b="0" i="0" u="none">
                <a:solidFill>
                  <a:srgbClr val="94A3B8"/>
                </a:solidFill>
                <a:latin typeface="Inter"/>
              </a:rPr>
              <a:t>/</a:t>
            </a:r>
          </a:p>
        </p:txBody>
      </p:sp>
      <p:sp>
        <p:nvSpPr>
          <p:cNvPr id="19" name="TextBox 18"/>
          <p:cNvSpPr txBox="1"/>
          <p:nvPr/>
        </p:nvSpPr>
        <p:spPr>
          <a:xfrm>
            <a:off x="944909" y="304800"/>
            <a:ext cx="1982628" cy="152400"/>
          </a:xfrm>
          <a:prstGeom prst="rect">
            <a:avLst/>
          </a:prstGeom>
          <a:noFill/>
        </p:spPr>
        <p:txBody>
          <a:bodyPr wrap="square" lIns="0" tIns="0" rIns="0" bIns="0" anchor="t">
            <a:spAutoFit/>
          </a:bodyPr>
          <a:lstStyle/>
          <a:p>
            <a:pPr algn="l">
              <a:lnSpc>
                <a:spcPts val="1200"/>
              </a:lnSpc>
            </a:pPr>
            <a:r>
              <a:rPr sz="900" b="1" i="0" u="none">
                <a:solidFill>
                  <a:srgbClr val="475569"/>
                </a:solidFill>
                <a:latin typeface="Inter"/>
              </a:rPr>
              <a:t>Bibliography &amp; Scope Summary</a:t>
            </a:r>
          </a:p>
        </p:txBody>
      </p:sp>
      <p:sp>
        <p:nvSpPr>
          <p:cNvPr id="20" name="TextBox 19"/>
          <p:cNvSpPr txBox="1"/>
          <p:nvPr/>
        </p:nvSpPr>
        <p:spPr>
          <a:xfrm>
            <a:off x="466725" y="1447800"/>
            <a:ext cx="6177915" cy="152400"/>
          </a:xfrm>
          <a:prstGeom prst="rect">
            <a:avLst/>
          </a:prstGeom>
          <a:noFill/>
        </p:spPr>
        <p:txBody>
          <a:bodyPr wrap="square" lIns="0" tIns="0" rIns="0" bIns="0" anchor="t">
            <a:spAutoFit/>
          </a:bodyPr>
          <a:lstStyle/>
          <a:p>
            <a:pPr algn="l">
              <a:lnSpc>
                <a:spcPts val="1200"/>
              </a:lnSpc>
            </a:pPr>
            <a:r>
              <a:rPr sz="900" b="1" i="0" u="none" spc="45">
                <a:solidFill>
                  <a:srgbClr val="1D4ED8"/>
                </a:solidFill>
                <a:latin typeface="Inter"/>
              </a:rPr>
              <a:t>BIBLIOGRAPHY REFERENCES</a:t>
            </a:r>
          </a:p>
        </p:txBody>
      </p:sp>
      <p:sp>
        <p:nvSpPr>
          <p:cNvPr id="21" name="TextBox 20"/>
          <p:cNvSpPr txBox="1"/>
          <p:nvPr/>
        </p:nvSpPr>
        <p:spPr>
          <a:xfrm>
            <a:off x="466725" y="2894409"/>
            <a:ext cx="6177915" cy="130968"/>
          </a:xfrm>
          <a:prstGeom prst="rect">
            <a:avLst/>
          </a:prstGeom>
          <a:noFill/>
        </p:spPr>
        <p:txBody>
          <a:bodyPr wrap="square" lIns="0" tIns="0" rIns="0" bIns="0" anchor="t">
            <a:spAutoFit/>
          </a:bodyPr>
          <a:lstStyle/>
          <a:p>
            <a:pPr algn="l">
              <a:lnSpc>
                <a:spcPts val="1031"/>
              </a:lnSpc>
            </a:pPr>
            <a:r>
              <a:rPr sz="825" b="1" i="0" u="none">
                <a:solidFill>
                  <a:srgbClr val="0F172A"/>
                </a:solidFill>
                <a:latin typeface="Inter"/>
              </a:rPr>
              <a:t>[1]</a:t>
            </a:r>
            <a:r>
              <a:rPr sz="825" b="0" i="0" u="none">
                <a:solidFill>
                  <a:srgbClr val="334155"/>
                </a:solidFill>
                <a:latin typeface="Inter"/>
              </a:rPr>
              <a:t> Government of India, MeitY. “The Digital Personal Data Protection Act, 2023 (Act No. 22 of 2023).”</a:t>
            </a:r>
          </a:p>
        </p:txBody>
      </p:sp>
      <p:sp>
        <p:nvSpPr>
          <p:cNvPr id="22" name="TextBox 21"/>
          <p:cNvSpPr txBox="1"/>
          <p:nvPr/>
        </p:nvSpPr>
        <p:spPr>
          <a:xfrm>
            <a:off x="466725" y="3101578"/>
            <a:ext cx="5372100" cy="261937"/>
          </a:xfrm>
          <a:prstGeom prst="rect">
            <a:avLst/>
          </a:prstGeom>
          <a:noFill/>
        </p:spPr>
        <p:txBody>
          <a:bodyPr wrap="square" lIns="0" tIns="0" rIns="0" bIns="0" anchor="t">
            <a:spAutoFit/>
          </a:bodyPr>
          <a:lstStyle/>
          <a:p>
            <a:pPr algn="l">
              <a:lnSpc>
                <a:spcPts val="1031"/>
              </a:lnSpc>
            </a:pPr>
            <a:r>
              <a:rPr sz="825" b="1" i="0" u="none">
                <a:solidFill>
                  <a:srgbClr val="0F172A"/>
                </a:solidFill>
                <a:latin typeface="Inter"/>
              </a:rPr>
              <a:t>[2]</a:t>
            </a:r>
            <a:r>
              <a:rPr sz="825" b="0" i="0" u="none">
                <a:solidFill>
                  <a:srgbClr val="334155"/>
                </a:solidFill>
                <a:latin typeface="Inter"/>
              </a:rPr>
              <a:t> J. Verhoeff. “Error Detecting Decimal Codes.” Mathematical Centre Tract 29, Mathematisch Centrum, Amsterdam, 1969.</a:t>
            </a:r>
          </a:p>
        </p:txBody>
      </p:sp>
      <p:sp>
        <p:nvSpPr>
          <p:cNvPr id="23" name="TextBox 22"/>
          <p:cNvSpPr txBox="1"/>
          <p:nvPr/>
        </p:nvSpPr>
        <p:spPr>
          <a:xfrm>
            <a:off x="466725" y="3439715"/>
            <a:ext cx="6177915" cy="130968"/>
          </a:xfrm>
          <a:prstGeom prst="rect">
            <a:avLst/>
          </a:prstGeom>
          <a:noFill/>
        </p:spPr>
        <p:txBody>
          <a:bodyPr wrap="square" lIns="0" tIns="0" rIns="0" bIns="0" anchor="t">
            <a:spAutoFit/>
          </a:bodyPr>
          <a:lstStyle/>
          <a:p>
            <a:pPr algn="l">
              <a:lnSpc>
                <a:spcPts val="1031"/>
              </a:lnSpc>
            </a:pPr>
            <a:r>
              <a:rPr sz="825" b="1" i="0" u="none">
                <a:solidFill>
                  <a:srgbClr val="0F172A"/>
                </a:solidFill>
                <a:latin typeface="Inter"/>
              </a:rPr>
              <a:t>[3]</a:t>
            </a:r>
            <a:r>
              <a:rPr sz="825" b="0" i="0" u="none">
                <a:solidFill>
                  <a:srgbClr val="334155"/>
                </a:solidFill>
                <a:latin typeface="Inter"/>
              </a:rPr>
              <a:t> P. Resnick (Ed.). “Internet Message Format.” RFC 5322, IETF, 2008.</a:t>
            </a:r>
          </a:p>
        </p:txBody>
      </p:sp>
      <p:sp>
        <p:nvSpPr>
          <p:cNvPr id="24" name="TextBox 23"/>
          <p:cNvSpPr txBox="1"/>
          <p:nvPr/>
        </p:nvSpPr>
        <p:spPr>
          <a:xfrm>
            <a:off x="466725" y="3646884"/>
            <a:ext cx="6177915" cy="130968"/>
          </a:xfrm>
          <a:prstGeom prst="rect">
            <a:avLst/>
          </a:prstGeom>
          <a:noFill/>
        </p:spPr>
        <p:txBody>
          <a:bodyPr wrap="square" lIns="0" tIns="0" rIns="0" bIns="0" anchor="t">
            <a:spAutoFit/>
          </a:bodyPr>
          <a:lstStyle/>
          <a:p>
            <a:pPr algn="l">
              <a:lnSpc>
                <a:spcPts val="1031"/>
              </a:lnSpc>
            </a:pPr>
            <a:r>
              <a:rPr sz="825" b="1" i="0" u="none">
                <a:solidFill>
                  <a:srgbClr val="0F172A"/>
                </a:solidFill>
                <a:latin typeface="Inter"/>
              </a:rPr>
              <a:t>[4]</a:t>
            </a:r>
            <a:r>
              <a:rPr sz="825" b="0" i="0" u="none">
                <a:solidFill>
                  <a:srgbClr val="334155"/>
                </a:solidFill>
                <a:latin typeface="Inter"/>
              </a:rPr>
              <a:t> Microsoft. “Presidio: Data Protection and De-identification SDK.” github.com/microsoft/presidio</a:t>
            </a:r>
          </a:p>
        </p:txBody>
      </p:sp>
      <p:sp>
        <p:nvSpPr>
          <p:cNvPr id="25" name="TextBox 24"/>
          <p:cNvSpPr txBox="1"/>
          <p:nvPr/>
        </p:nvSpPr>
        <p:spPr>
          <a:xfrm>
            <a:off x="466725" y="3854053"/>
            <a:ext cx="6177915" cy="130968"/>
          </a:xfrm>
          <a:prstGeom prst="rect">
            <a:avLst/>
          </a:prstGeom>
          <a:noFill/>
        </p:spPr>
        <p:txBody>
          <a:bodyPr wrap="square" lIns="0" tIns="0" rIns="0" bIns="0" anchor="t">
            <a:spAutoFit/>
          </a:bodyPr>
          <a:lstStyle/>
          <a:p>
            <a:pPr algn="l">
              <a:lnSpc>
                <a:spcPts val="1031"/>
              </a:lnSpc>
            </a:pPr>
            <a:r>
              <a:rPr sz="825" b="1" i="0" u="none">
                <a:solidFill>
                  <a:srgbClr val="0F172A"/>
                </a:solidFill>
                <a:latin typeface="Inter"/>
              </a:rPr>
              <a:t>[5]</a:t>
            </a:r>
            <a:r>
              <a:rPr sz="825" b="0" i="0" u="none">
                <a:solidFill>
                  <a:srgbClr val="334155"/>
                </a:solidFill>
                <a:latin typeface="Inter"/>
              </a:rPr>
              <a:t> Explosion. “spaCy: Named Entity Recognition.” spacy.io</a:t>
            </a:r>
          </a:p>
        </p:txBody>
      </p:sp>
      <p:sp>
        <p:nvSpPr>
          <p:cNvPr id="26" name="TextBox 25"/>
          <p:cNvSpPr txBox="1"/>
          <p:nvPr/>
        </p:nvSpPr>
        <p:spPr>
          <a:xfrm>
            <a:off x="466725" y="4061221"/>
            <a:ext cx="6177915" cy="130968"/>
          </a:xfrm>
          <a:prstGeom prst="rect">
            <a:avLst/>
          </a:prstGeom>
          <a:noFill/>
        </p:spPr>
        <p:txBody>
          <a:bodyPr wrap="square" lIns="0" tIns="0" rIns="0" bIns="0" anchor="t">
            <a:spAutoFit/>
          </a:bodyPr>
          <a:lstStyle/>
          <a:p>
            <a:pPr algn="l">
              <a:lnSpc>
                <a:spcPts val="1031"/>
              </a:lnSpc>
            </a:pPr>
            <a:r>
              <a:rPr sz="825" b="1" i="0" u="none">
                <a:solidFill>
                  <a:srgbClr val="0F172A"/>
                </a:solidFill>
                <a:latin typeface="Inter"/>
              </a:rPr>
              <a:t>[6]</a:t>
            </a:r>
            <a:r>
              <a:rPr sz="825" b="0" i="0" u="none">
                <a:solidFill>
                  <a:srgbClr val="334155"/>
                </a:solidFill>
                <a:latin typeface="Inter"/>
              </a:rPr>
              <a:t> Netwrix. “PII Detection: Why It’s Crucial in Today’s Data Landscape.” Web guide.</a:t>
            </a:r>
          </a:p>
        </p:txBody>
      </p:sp>
      <p:sp>
        <p:nvSpPr>
          <p:cNvPr id="27" name="TextBox 26"/>
          <p:cNvSpPr txBox="1"/>
          <p:nvPr/>
        </p:nvSpPr>
        <p:spPr>
          <a:xfrm>
            <a:off x="6505575" y="1428750"/>
            <a:ext cx="5686425" cy="152400"/>
          </a:xfrm>
          <a:prstGeom prst="rect">
            <a:avLst/>
          </a:prstGeom>
          <a:noFill/>
        </p:spPr>
        <p:txBody>
          <a:bodyPr wrap="square" lIns="0" tIns="0" rIns="0" bIns="0" anchor="ctr">
            <a:spAutoFit/>
          </a:bodyPr>
          <a:lstStyle/>
          <a:p>
            <a:pPr algn="l">
              <a:lnSpc>
                <a:spcPts val="1200"/>
              </a:lnSpc>
            </a:pPr>
            <a:r>
              <a:rPr sz="900" b="1" i="0" u="none">
                <a:solidFill>
                  <a:srgbClr val="0F172A"/>
                </a:solidFill>
                <a:latin typeface="Inter"/>
              </a:rPr>
              <a:t>PS-019 Traceability Checklist</a:t>
            </a:r>
          </a:p>
        </p:txBody>
      </p:sp>
      <p:sp>
        <p:nvSpPr>
          <p:cNvPr id="28" name="TextBox 27"/>
          <p:cNvSpPr txBox="1"/>
          <p:nvPr/>
        </p:nvSpPr>
        <p:spPr>
          <a:xfrm>
            <a:off x="6315075" y="5241131"/>
            <a:ext cx="5876925" cy="152400"/>
          </a:xfrm>
          <a:prstGeom prst="rect">
            <a:avLst/>
          </a:prstGeom>
          <a:noFill/>
        </p:spPr>
        <p:txBody>
          <a:bodyPr wrap="square" lIns="0" tIns="0" rIns="0" bIns="0" anchor="t">
            <a:spAutoFit/>
          </a:bodyPr>
          <a:lstStyle/>
          <a:p>
            <a:pPr algn="l">
              <a:lnSpc>
                <a:spcPts val="1200"/>
              </a:lnSpc>
            </a:pPr>
            <a:r>
              <a:rPr sz="900" b="1" i="0" u="none">
                <a:solidFill>
                  <a:srgbClr val="172554"/>
                </a:solidFill>
                <a:latin typeface="Inter"/>
              </a:rPr>
              <a:t>Final Closing Principle</a:t>
            </a:r>
          </a:p>
        </p:txBody>
      </p:sp>
      <p:sp>
        <p:nvSpPr>
          <p:cNvPr id="29" name="TextBox 28"/>
          <p:cNvSpPr txBox="1"/>
          <p:nvPr/>
        </p:nvSpPr>
        <p:spPr>
          <a:xfrm>
            <a:off x="6315075" y="5412581"/>
            <a:ext cx="5448300" cy="340518"/>
          </a:xfrm>
          <a:prstGeom prst="rect">
            <a:avLst/>
          </a:prstGeom>
          <a:noFill/>
        </p:spPr>
        <p:txBody>
          <a:bodyPr wrap="square" lIns="0" tIns="0" rIns="0" bIns="0" anchor="t">
            <a:spAutoFit/>
          </a:bodyPr>
          <a:lstStyle/>
          <a:p>
            <a:pPr algn="l">
              <a:lnSpc>
                <a:spcPts val="1340"/>
              </a:lnSpc>
            </a:pPr>
            <a:r>
              <a:rPr sz="825" b="0" i="0" u="none">
                <a:solidFill>
                  <a:srgbClr val="475569"/>
                </a:solidFill>
                <a:latin typeface="Inter"/>
              </a:rPr>
              <a:t>Privexis acts as a technical discovery instrument to produce empirical evidence inventories for human review. It makes no autonomous legal or compliance conclusions.</a:t>
            </a:r>
          </a:p>
        </p:txBody>
      </p:sp>
      <p:pic>
        <p:nvPicPr>
          <p:cNvPr id="30" name="Picture 29" descr="image.png"/>
          <p:cNvPicPr>
            <a:picLocks noChangeAspect="1"/>
          </p:cNvPicPr>
          <p:nvPr/>
        </p:nvPicPr>
        <p:blipFill>
          <a:blip r:embed="rId4"/>
          <a:stretch>
            <a:fillRect/>
          </a:stretch>
        </p:blipFill>
        <p:spPr>
          <a:xfrm>
            <a:off x="6334125" y="1447800"/>
            <a:ext cx="114300" cy="114300"/>
          </a:xfrm>
          <a:prstGeom prst="rect">
            <a:avLst/>
          </a:prstGeom>
        </p:spPr>
      </p:pic>
      <p:sp>
        <p:nvSpPr>
          <p:cNvPr id="31" name="TextBox 30"/>
          <p:cNvSpPr txBox="1"/>
          <p:nvPr/>
        </p:nvSpPr>
        <p:spPr>
          <a:xfrm>
            <a:off x="6419850" y="3907631"/>
            <a:ext cx="1007745" cy="133350"/>
          </a:xfrm>
          <a:prstGeom prst="rect">
            <a:avLst/>
          </a:prstGeom>
          <a:noFill/>
        </p:spPr>
        <p:txBody>
          <a:bodyPr wrap="square" lIns="0" tIns="0" rIns="0" bIns="0" anchor="t">
            <a:spAutoFit/>
          </a:bodyPr>
          <a:lstStyle/>
          <a:p>
            <a:pPr algn="l">
              <a:lnSpc>
                <a:spcPts val="1237"/>
              </a:lnSpc>
            </a:pPr>
            <a:r>
              <a:rPr sz="825" b="1" i="0" u="none">
                <a:solidFill>
                  <a:srgbClr val="1E293B"/>
                </a:solidFill>
                <a:latin typeface="Inter"/>
              </a:rPr>
              <a:t>CSV &amp; SQLite DB:</a:t>
            </a:r>
          </a:p>
        </p:txBody>
      </p:sp>
      <p:sp>
        <p:nvSpPr>
          <p:cNvPr id="32" name="TextBox 31"/>
          <p:cNvSpPr txBox="1"/>
          <p:nvPr/>
        </p:nvSpPr>
        <p:spPr>
          <a:xfrm>
            <a:off x="6419850" y="4055268"/>
            <a:ext cx="2869882" cy="157162"/>
          </a:xfrm>
          <a:prstGeom prst="rect">
            <a:avLst/>
          </a:prstGeom>
          <a:noFill/>
        </p:spPr>
        <p:txBody>
          <a:bodyPr wrap="square" lIns="0" tIns="0" rIns="0" bIns="0" anchor="t">
            <a:spAutoFit/>
          </a:bodyPr>
          <a:lstStyle/>
          <a:p>
            <a:pPr algn="l">
              <a:lnSpc>
                <a:spcPts val="1237"/>
              </a:lnSpc>
            </a:pPr>
            <a:r>
              <a:rPr sz="825" b="0" i="0" u="none">
                <a:solidFill>
                  <a:srgbClr val="475569"/>
                </a:solidFill>
                <a:latin typeface="Inter"/>
              </a:rPr>
              <a:t>Dual connectors supported</a:t>
            </a:r>
          </a:p>
        </p:txBody>
      </p:sp>
      <p:sp>
        <p:nvSpPr>
          <p:cNvPr id="33" name="TextBox 32"/>
          <p:cNvSpPr txBox="1"/>
          <p:nvPr/>
        </p:nvSpPr>
        <p:spPr>
          <a:xfrm>
            <a:off x="9163050" y="3907631"/>
            <a:ext cx="887253" cy="133350"/>
          </a:xfrm>
          <a:prstGeom prst="rect">
            <a:avLst/>
          </a:prstGeom>
          <a:noFill/>
        </p:spPr>
        <p:txBody>
          <a:bodyPr wrap="square" lIns="0" tIns="0" rIns="0" bIns="0" anchor="t">
            <a:spAutoFit/>
          </a:bodyPr>
          <a:lstStyle/>
          <a:p>
            <a:pPr algn="l">
              <a:lnSpc>
                <a:spcPts val="1237"/>
              </a:lnSpc>
            </a:pPr>
            <a:r>
              <a:rPr sz="825" b="1" i="0" u="none">
                <a:solidFill>
                  <a:srgbClr val="1E293B"/>
                </a:solidFill>
                <a:latin typeface="Inter"/>
              </a:rPr>
              <a:t>5 Data Classes:</a:t>
            </a:r>
          </a:p>
        </p:txBody>
      </p:sp>
      <p:sp>
        <p:nvSpPr>
          <p:cNvPr id="34" name="TextBox 33"/>
          <p:cNvSpPr txBox="1"/>
          <p:nvPr/>
        </p:nvSpPr>
        <p:spPr>
          <a:xfrm>
            <a:off x="9163050" y="4055268"/>
            <a:ext cx="2869882" cy="157162"/>
          </a:xfrm>
          <a:prstGeom prst="rect">
            <a:avLst/>
          </a:prstGeom>
          <a:noFill/>
        </p:spPr>
        <p:txBody>
          <a:bodyPr wrap="square" lIns="0" tIns="0" rIns="0" bIns="0" anchor="t">
            <a:spAutoFit/>
          </a:bodyPr>
          <a:lstStyle/>
          <a:p>
            <a:pPr algn="l">
              <a:lnSpc>
                <a:spcPts val="1237"/>
              </a:lnSpc>
            </a:pPr>
            <a:r>
              <a:rPr sz="825" b="0" i="0" u="none">
                <a:solidFill>
                  <a:srgbClr val="475569"/>
                </a:solidFill>
                <a:latin typeface="Inter"/>
              </a:rPr>
              <a:t>Configured in YAML rules</a:t>
            </a:r>
          </a:p>
        </p:txBody>
      </p:sp>
      <p:sp>
        <p:nvSpPr>
          <p:cNvPr id="35" name="TextBox 34"/>
          <p:cNvSpPr txBox="1"/>
          <p:nvPr/>
        </p:nvSpPr>
        <p:spPr>
          <a:xfrm>
            <a:off x="6419850" y="4469606"/>
            <a:ext cx="996791" cy="133350"/>
          </a:xfrm>
          <a:prstGeom prst="rect">
            <a:avLst/>
          </a:prstGeom>
          <a:noFill/>
        </p:spPr>
        <p:txBody>
          <a:bodyPr wrap="square" lIns="0" tIns="0" rIns="0" bIns="0" anchor="t">
            <a:spAutoFit/>
          </a:bodyPr>
          <a:lstStyle/>
          <a:p>
            <a:pPr algn="l">
              <a:lnSpc>
                <a:spcPts val="1237"/>
              </a:lnSpc>
            </a:pPr>
            <a:r>
              <a:rPr sz="825" b="1" i="0" u="none">
                <a:solidFill>
                  <a:srgbClr val="1E293B"/>
                </a:solidFill>
                <a:latin typeface="Inter"/>
              </a:rPr>
              <a:t>Metadata Linker:</a:t>
            </a:r>
          </a:p>
        </p:txBody>
      </p:sp>
      <p:sp>
        <p:nvSpPr>
          <p:cNvPr id="36" name="TextBox 35"/>
          <p:cNvSpPr txBox="1"/>
          <p:nvPr/>
        </p:nvSpPr>
        <p:spPr>
          <a:xfrm>
            <a:off x="6419850" y="4617243"/>
            <a:ext cx="2869882" cy="157162"/>
          </a:xfrm>
          <a:prstGeom prst="rect">
            <a:avLst/>
          </a:prstGeom>
          <a:noFill/>
        </p:spPr>
        <p:txBody>
          <a:bodyPr wrap="square" lIns="0" tIns="0" rIns="0" bIns="0" anchor="t">
            <a:spAutoFit/>
          </a:bodyPr>
          <a:lstStyle/>
          <a:p>
            <a:pPr algn="l">
              <a:lnSpc>
                <a:spcPts val="1237"/>
              </a:lnSpc>
            </a:pPr>
            <a:r>
              <a:rPr sz="825" b="0" i="0" u="none">
                <a:solidFill>
                  <a:srgbClr val="475569"/>
                </a:solidFill>
                <a:latin typeface="Inter"/>
              </a:rPr>
              <a:t>Purpose &amp; retention mapping</a:t>
            </a:r>
          </a:p>
        </p:txBody>
      </p:sp>
      <p:sp>
        <p:nvSpPr>
          <p:cNvPr id="37" name="TextBox 36"/>
          <p:cNvSpPr txBox="1"/>
          <p:nvPr/>
        </p:nvSpPr>
        <p:spPr>
          <a:xfrm>
            <a:off x="9163050" y="4469606"/>
            <a:ext cx="1117282" cy="133350"/>
          </a:xfrm>
          <a:prstGeom prst="rect">
            <a:avLst/>
          </a:prstGeom>
          <a:noFill/>
        </p:spPr>
        <p:txBody>
          <a:bodyPr wrap="square" lIns="0" tIns="0" rIns="0" bIns="0" anchor="t">
            <a:spAutoFit/>
          </a:bodyPr>
          <a:lstStyle/>
          <a:p>
            <a:pPr algn="l">
              <a:lnSpc>
                <a:spcPts val="1237"/>
              </a:lnSpc>
            </a:pPr>
            <a:r>
              <a:rPr sz="825" b="1" i="0" u="none">
                <a:solidFill>
                  <a:srgbClr val="1E293B"/>
                </a:solidFill>
                <a:latin typeface="Inter"/>
              </a:rPr>
              <a:t>Quality Evaluation:</a:t>
            </a:r>
          </a:p>
        </p:txBody>
      </p:sp>
      <p:sp>
        <p:nvSpPr>
          <p:cNvPr id="38" name="TextBox 37"/>
          <p:cNvSpPr txBox="1"/>
          <p:nvPr/>
        </p:nvSpPr>
        <p:spPr>
          <a:xfrm>
            <a:off x="9163050" y="4617243"/>
            <a:ext cx="2869882" cy="157162"/>
          </a:xfrm>
          <a:prstGeom prst="rect">
            <a:avLst/>
          </a:prstGeom>
          <a:noFill/>
        </p:spPr>
        <p:txBody>
          <a:bodyPr wrap="square" lIns="0" tIns="0" rIns="0" bIns="0" anchor="t">
            <a:spAutoFit/>
          </a:bodyPr>
          <a:lstStyle/>
          <a:p>
            <a:pPr algn="l">
              <a:lnSpc>
                <a:spcPts val="1237"/>
              </a:lnSpc>
            </a:pPr>
            <a:r>
              <a:rPr sz="825" b="0" i="0" u="none">
                <a:solidFill>
                  <a:srgbClr val="475569"/>
                </a:solidFill>
                <a:latin typeface="Inter"/>
              </a:rPr>
              <a:t>Per-class precision &amp; recall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1709</Words>
  <Application>Microsoft Office PowerPoint</Application>
  <PresentationFormat>Widescreen</PresentationFormat>
  <Paragraphs>311</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Inter</vt:lpstr>
      <vt:lpstr>ui-monospace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Vibhakar Gangwar</dc:creator>
  <cp:keywords/>
  <dc:description>generated using python-pptx</dc:description>
  <cp:lastModifiedBy>Vibhakar Gangwar</cp:lastModifiedBy>
  <cp:revision>1</cp:revision>
  <dcterms:created xsi:type="dcterms:W3CDTF">2013-01-27T09:14:16Z</dcterms:created>
  <dcterms:modified xsi:type="dcterms:W3CDTF">2026-10-14T17:50:46Z</dcterms:modified>
  <cp:category/>
</cp:coreProperties>
</file>